
<file path=[Content_Types].xml><?xml version="1.0" encoding="utf-8"?>
<Types xmlns="http://schemas.openxmlformats.org/package/2006/content-types">
  <Default Extension="com" ContentType="image/png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84" r:id="rId3"/>
    <p:sldId id="269" r:id="rId4"/>
    <p:sldId id="290" r:id="rId5"/>
    <p:sldId id="291" r:id="rId6"/>
    <p:sldId id="271" r:id="rId7"/>
    <p:sldId id="272" r:id="rId8"/>
    <p:sldId id="283" r:id="rId9"/>
    <p:sldId id="282" r:id="rId10"/>
    <p:sldId id="285" r:id="rId11"/>
    <p:sldId id="275" r:id="rId12"/>
    <p:sldId id="286" r:id="rId13"/>
    <p:sldId id="279" r:id="rId14"/>
    <p:sldId id="287" r:id="rId15"/>
    <p:sldId id="280" r:id="rId16"/>
    <p:sldId id="288" r:id="rId17"/>
    <p:sldId id="281" r:id="rId18"/>
    <p:sldId id="289" r:id="rId19"/>
    <p:sldId id="278" r:id="rId20"/>
    <p:sldId id="292" r:id="rId21"/>
    <p:sldId id="268" r:id="rId22"/>
  </p:sldIdLst>
  <p:sldSz cx="18288000" cy="10287000"/>
  <p:notesSz cx="6858000" cy="9144000"/>
  <p:embeddedFontLst>
    <p:embeddedFont>
      <p:font typeface="DM Sans" pitchFamily="2" charset="0"/>
      <p:regular r:id="rId23"/>
      <p:bold r:id="rId24"/>
      <p:italic r:id="rId25"/>
      <p:boldItalic r:id="rId26"/>
    </p:embeddedFont>
    <p:embeddedFont>
      <p:font typeface="DM Sans Bold" charset="0"/>
      <p:regular r:id="rId27"/>
    </p:embeddedFont>
    <p:embeddedFont>
      <p:font typeface="Open Sauce 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22" autoAdjust="0"/>
  </p:normalViewPr>
  <p:slideViewPr>
    <p:cSldViewPr>
      <p:cViewPr varScale="1">
        <p:scale>
          <a:sx n="56" d="100"/>
          <a:sy n="56" d="100"/>
        </p:scale>
        <p:origin x="389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378435-BF41-41C2-853A-4B809ABF21A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80DD99-CCC5-4DD4-80DA-D3052006D9F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Data Pipeline &amp; Preprocessing</a:t>
          </a:r>
          <a:r>
            <a:rPr lang="en-IN"/>
            <a:t>: Raw images undergo RGB conversion, resizing, normalization, and data augmentation for robust feature learning.</a:t>
          </a:r>
          <a:endParaRPr lang="en-US"/>
        </a:p>
      </dgm:t>
    </dgm:pt>
    <dgm:pt modelId="{01944CEF-58B2-4687-A383-049B5D926BC3}" type="parTrans" cxnId="{33B91549-59AD-4983-95D4-ACD8D29C6693}">
      <dgm:prSet/>
      <dgm:spPr/>
      <dgm:t>
        <a:bodyPr/>
        <a:lstStyle/>
        <a:p>
          <a:endParaRPr lang="en-US"/>
        </a:p>
      </dgm:t>
    </dgm:pt>
    <dgm:pt modelId="{F6B68DEF-A9C4-491D-9173-65B1259E464A}" type="sibTrans" cxnId="{33B91549-59AD-4983-95D4-ACD8D29C6693}">
      <dgm:prSet/>
      <dgm:spPr/>
      <dgm:t>
        <a:bodyPr/>
        <a:lstStyle/>
        <a:p>
          <a:endParaRPr lang="en-US"/>
        </a:p>
      </dgm:t>
    </dgm:pt>
    <dgm:pt modelId="{8832372C-969B-4BF2-AD32-07D5F2EEC16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Multi-Architecture Modeling</a:t>
          </a:r>
          <a:r>
            <a:rPr lang="en-IN"/>
            <a:t>: Parallel development and evaluation across 4 deep learning models (</a:t>
          </a:r>
          <a:r>
            <a:rPr lang="en-IN" b="1"/>
            <a:t>MobileNetV2</a:t>
          </a:r>
          <a:r>
            <a:rPr lang="en-IN"/>
            <a:t>, </a:t>
          </a:r>
          <a:r>
            <a:rPr lang="en-IN" b="1"/>
            <a:t>YOLOv8</a:t>
          </a:r>
          <a:r>
            <a:rPr lang="en-IN"/>
            <a:t>, </a:t>
          </a:r>
          <a:r>
            <a:rPr lang="en-IN" b="1"/>
            <a:t>ResNet50</a:t>
          </a:r>
          <a:r>
            <a:rPr lang="en-IN"/>
            <a:t>, and </a:t>
          </a:r>
          <a:r>
            <a:rPr lang="en-IN" b="1"/>
            <a:t>EfficientNetB0</a:t>
          </a:r>
          <a:r>
            <a:rPr lang="en-IN"/>
            <a:t>).</a:t>
          </a:r>
          <a:endParaRPr lang="en-US"/>
        </a:p>
      </dgm:t>
    </dgm:pt>
    <dgm:pt modelId="{8F57C100-B718-44D1-A988-FB589A5940EC}" type="parTrans" cxnId="{AA23DD5B-95D7-4F44-9D71-5C26F408B9C6}">
      <dgm:prSet/>
      <dgm:spPr/>
      <dgm:t>
        <a:bodyPr/>
        <a:lstStyle/>
        <a:p>
          <a:endParaRPr lang="en-US"/>
        </a:p>
      </dgm:t>
    </dgm:pt>
    <dgm:pt modelId="{6ACE7D7E-4CCC-4574-901E-D9300F016231}" type="sibTrans" cxnId="{AA23DD5B-95D7-4F44-9D71-5C26F408B9C6}">
      <dgm:prSet/>
      <dgm:spPr/>
      <dgm:t>
        <a:bodyPr/>
        <a:lstStyle/>
        <a:p>
          <a:endParaRPr lang="en-US"/>
        </a:p>
      </dgm:t>
    </dgm:pt>
    <dgm:pt modelId="{CCFEAE3E-890D-4244-B4AF-E22B59CCB63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Hyperparameter &amp; Fine-Tuning</a:t>
          </a:r>
          <a:r>
            <a:rPr lang="en-IN"/>
            <a:t>: Systematic tuning of learning rates and layer unfreezing to optimize model convergence.</a:t>
          </a:r>
          <a:endParaRPr lang="en-US"/>
        </a:p>
      </dgm:t>
    </dgm:pt>
    <dgm:pt modelId="{9BD2E2B8-46C3-4D7A-B21A-DFBAA423A21A}" type="parTrans" cxnId="{14E33409-47CF-40FC-9D71-482D4D6002DD}">
      <dgm:prSet/>
      <dgm:spPr/>
      <dgm:t>
        <a:bodyPr/>
        <a:lstStyle/>
        <a:p>
          <a:endParaRPr lang="en-US"/>
        </a:p>
      </dgm:t>
    </dgm:pt>
    <dgm:pt modelId="{DE1BFA59-2164-42C6-8356-4F34BBBCD27C}" type="sibTrans" cxnId="{14E33409-47CF-40FC-9D71-482D4D6002DD}">
      <dgm:prSet/>
      <dgm:spPr/>
      <dgm:t>
        <a:bodyPr/>
        <a:lstStyle/>
        <a:p>
          <a:endParaRPr lang="en-US"/>
        </a:p>
      </dgm:t>
    </dgm:pt>
    <dgm:pt modelId="{E08C9898-4030-45D8-9519-95FD0F0F810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XAI &amp; Ablation Validation</a:t>
          </a:r>
          <a:r>
            <a:rPr lang="en-IN"/>
            <a:t>: Uses Explainable AI (</a:t>
          </a:r>
          <a:r>
            <a:rPr lang="en-IN" b="1"/>
            <a:t>Grad-CAM / LIME</a:t>
          </a:r>
          <a:r>
            <a:rPr lang="en-IN"/>
            <a:t>) to visualize model attention maps, backed by an </a:t>
          </a:r>
          <a:r>
            <a:rPr lang="en-IN" b="1"/>
            <a:t>Ablation Study</a:t>
          </a:r>
          <a:r>
            <a:rPr lang="en-IN"/>
            <a:t> to verify feature contributions.</a:t>
          </a:r>
          <a:endParaRPr lang="en-US"/>
        </a:p>
      </dgm:t>
    </dgm:pt>
    <dgm:pt modelId="{214393DC-7446-477C-A1DF-3922F30ABD24}" type="parTrans" cxnId="{DEC4EA1B-4B6F-456E-B165-11AEA14E8FCB}">
      <dgm:prSet/>
      <dgm:spPr/>
      <dgm:t>
        <a:bodyPr/>
        <a:lstStyle/>
        <a:p>
          <a:endParaRPr lang="en-US"/>
        </a:p>
      </dgm:t>
    </dgm:pt>
    <dgm:pt modelId="{72DAD0D3-0F30-47C4-AA20-1C182296F318}" type="sibTrans" cxnId="{DEC4EA1B-4B6F-456E-B165-11AEA14E8FCB}">
      <dgm:prSet/>
      <dgm:spPr/>
      <dgm:t>
        <a:bodyPr/>
        <a:lstStyle/>
        <a:p>
          <a:endParaRPr lang="en-US"/>
        </a:p>
      </dgm:t>
    </dgm:pt>
    <dgm:pt modelId="{F79CEFA5-FA08-4F73-BBDD-6C4DE63F174C}" type="pres">
      <dgm:prSet presAssocID="{39378435-BF41-41C2-853A-4B809ABF21A7}" presName="root" presStyleCnt="0">
        <dgm:presLayoutVars>
          <dgm:dir/>
          <dgm:resizeHandles val="exact"/>
        </dgm:presLayoutVars>
      </dgm:prSet>
      <dgm:spPr/>
    </dgm:pt>
    <dgm:pt modelId="{7C7108FA-4522-44BE-9A74-186902BB25B9}" type="pres">
      <dgm:prSet presAssocID="{4880DD99-CCC5-4DD4-80DA-D3052006D9F4}" presName="compNode" presStyleCnt="0"/>
      <dgm:spPr/>
    </dgm:pt>
    <dgm:pt modelId="{3F72E44B-207E-4AEE-9CED-F65A4273A1D5}" type="pres">
      <dgm:prSet presAssocID="{4880DD99-CCC5-4DD4-80DA-D3052006D9F4}" presName="bgRect" presStyleLbl="bgShp" presStyleIdx="0" presStyleCnt="4"/>
      <dgm:spPr/>
    </dgm:pt>
    <dgm:pt modelId="{E793DE5F-167D-4614-B861-63532A493007}" type="pres">
      <dgm:prSet presAssocID="{4880DD99-CCC5-4DD4-80DA-D3052006D9F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E0A14CDA-E327-4645-89E7-AF4CBF8F241C}" type="pres">
      <dgm:prSet presAssocID="{4880DD99-CCC5-4DD4-80DA-D3052006D9F4}" presName="spaceRect" presStyleCnt="0"/>
      <dgm:spPr/>
    </dgm:pt>
    <dgm:pt modelId="{49C2FC96-6484-4A9B-A9F6-9449BF0A3471}" type="pres">
      <dgm:prSet presAssocID="{4880DD99-CCC5-4DD4-80DA-D3052006D9F4}" presName="parTx" presStyleLbl="revTx" presStyleIdx="0" presStyleCnt="4">
        <dgm:presLayoutVars>
          <dgm:chMax val="0"/>
          <dgm:chPref val="0"/>
        </dgm:presLayoutVars>
      </dgm:prSet>
      <dgm:spPr/>
    </dgm:pt>
    <dgm:pt modelId="{52F2CF01-402B-4EB0-85C0-782351BAAAF3}" type="pres">
      <dgm:prSet presAssocID="{F6B68DEF-A9C4-491D-9173-65B1259E464A}" presName="sibTrans" presStyleCnt="0"/>
      <dgm:spPr/>
    </dgm:pt>
    <dgm:pt modelId="{4DCD02C5-D6B5-41F9-84BD-1229D8284B32}" type="pres">
      <dgm:prSet presAssocID="{8832372C-969B-4BF2-AD32-07D5F2EEC167}" presName="compNode" presStyleCnt="0"/>
      <dgm:spPr/>
    </dgm:pt>
    <dgm:pt modelId="{36E01278-5284-49EC-8F98-FC2D18DE6086}" type="pres">
      <dgm:prSet presAssocID="{8832372C-969B-4BF2-AD32-07D5F2EEC167}" presName="bgRect" presStyleLbl="bgShp" presStyleIdx="1" presStyleCnt="4"/>
      <dgm:spPr/>
    </dgm:pt>
    <dgm:pt modelId="{F1C46DEF-4BB2-46EE-93A0-A1C4362DF551}" type="pres">
      <dgm:prSet presAssocID="{8832372C-969B-4BF2-AD32-07D5F2EEC16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FB6C57D5-8465-43C7-BF3C-5E9B70A38520}" type="pres">
      <dgm:prSet presAssocID="{8832372C-969B-4BF2-AD32-07D5F2EEC167}" presName="spaceRect" presStyleCnt="0"/>
      <dgm:spPr/>
    </dgm:pt>
    <dgm:pt modelId="{8C3286F6-C518-4178-84F5-99D041FA8CA8}" type="pres">
      <dgm:prSet presAssocID="{8832372C-969B-4BF2-AD32-07D5F2EEC167}" presName="parTx" presStyleLbl="revTx" presStyleIdx="1" presStyleCnt="4">
        <dgm:presLayoutVars>
          <dgm:chMax val="0"/>
          <dgm:chPref val="0"/>
        </dgm:presLayoutVars>
      </dgm:prSet>
      <dgm:spPr/>
    </dgm:pt>
    <dgm:pt modelId="{18979483-5707-4DA2-A3AC-1EBB0F5090BB}" type="pres">
      <dgm:prSet presAssocID="{6ACE7D7E-4CCC-4574-901E-D9300F016231}" presName="sibTrans" presStyleCnt="0"/>
      <dgm:spPr/>
    </dgm:pt>
    <dgm:pt modelId="{678F5927-7BAC-4D4E-AAE2-5A604ED59BE7}" type="pres">
      <dgm:prSet presAssocID="{CCFEAE3E-890D-4244-B4AF-E22B59CCB636}" presName="compNode" presStyleCnt="0"/>
      <dgm:spPr/>
    </dgm:pt>
    <dgm:pt modelId="{E6F420F5-7925-4574-BD64-326900731DCC}" type="pres">
      <dgm:prSet presAssocID="{CCFEAE3E-890D-4244-B4AF-E22B59CCB636}" presName="bgRect" presStyleLbl="bgShp" presStyleIdx="2" presStyleCnt="4"/>
      <dgm:spPr/>
    </dgm:pt>
    <dgm:pt modelId="{E9998C20-238C-472E-9896-A50BE843787B}" type="pres">
      <dgm:prSet presAssocID="{CCFEAE3E-890D-4244-B4AF-E22B59CCB63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5E1B862C-1DC6-45F0-98FC-9F1E68A21524}" type="pres">
      <dgm:prSet presAssocID="{CCFEAE3E-890D-4244-B4AF-E22B59CCB636}" presName="spaceRect" presStyleCnt="0"/>
      <dgm:spPr/>
    </dgm:pt>
    <dgm:pt modelId="{28DAF31A-C610-4C94-A443-B0AD37E76314}" type="pres">
      <dgm:prSet presAssocID="{CCFEAE3E-890D-4244-B4AF-E22B59CCB636}" presName="parTx" presStyleLbl="revTx" presStyleIdx="2" presStyleCnt="4">
        <dgm:presLayoutVars>
          <dgm:chMax val="0"/>
          <dgm:chPref val="0"/>
        </dgm:presLayoutVars>
      </dgm:prSet>
      <dgm:spPr/>
    </dgm:pt>
    <dgm:pt modelId="{4678610E-879C-4245-B0A3-FD1048409AE2}" type="pres">
      <dgm:prSet presAssocID="{DE1BFA59-2164-42C6-8356-4F34BBBCD27C}" presName="sibTrans" presStyleCnt="0"/>
      <dgm:spPr/>
    </dgm:pt>
    <dgm:pt modelId="{7EA96FCE-A8F8-4CF1-BC8E-136F782EB6FA}" type="pres">
      <dgm:prSet presAssocID="{E08C9898-4030-45D8-9519-95FD0F0F810E}" presName="compNode" presStyleCnt="0"/>
      <dgm:spPr/>
    </dgm:pt>
    <dgm:pt modelId="{FC9CC8F4-AB99-4209-89F5-265EEEA17045}" type="pres">
      <dgm:prSet presAssocID="{E08C9898-4030-45D8-9519-95FD0F0F810E}" presName="bgRect" presStyleLbl="bgShp" presStyleIdx="3" presStyleCnt="4"/>
      <dgm:spPr/>
    </dgm:pt>
    <dgm:pt modelId="{A9902D9F-37C9-45B6-B8D3-826BAFE22563}" type="pres">
      <dgm:prSet presAssocID="{E08C9898-4030-45D8-9519-95FD0F0F810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4537C59-22C8-44A2-B55C-452DCE41EAEB}" type="pres">
      <dgm:prSet presAssocID="{E08C9898-4030-45D8-9519-95FD0F0F810E}" presName="spaceRect" presStyleCnt="0"/>
      <dgm:spPr/>
    </dgm:pt>
    <dgm:pt modelId="{BF497048-69D8-40AA-A756-730030A75B88}" type="pres">
      <dgm:prSet presAssocID="{E08C9898-4030-45D8-9519-95FD0F0F810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3070F07-5DB4-43FF-9EBD-A1C853986F8E}" type="presOf" srcId="{4880DD99-CCC5-4DD4-80DA-D3052006D9F4}" destId="{49C2FC96-6484-4A9B-A9F6-9449BF0A3471}" srcOrd="0" destOrd="0" presId="urn:microsoft.com/office/officeart/2018/2/layout/IconVerticalSolidList"/>
    <dgm:cxn modelId="{14E33409-47CF-40FC-9D71-482D4D6002DD}" srcId="{39378435-BF41-41C2-853A-4B809ABF21A7}" destId="{CCFEAE3E-890D-4244-B4AF-E22B59CCB636}" srcOrd="2" destOrd="0" parTransId="{9BD2E2B8-46C3-4D7A-B21A-DFBAA423A21A}" sibTransId="{DE1BFA59-2164-42C6-8356-4F34BBBCD27C}"/>
    <dgm:cxn modelId="{DEC4EA1B-4B6F-456E-B165-11AEA14E8FCB}" srcId="{39378435-BF41-41C2-853A-4B809ABF21A7}" destId="{E08C9898-4030-45D8-9519-95FD0F0F810E}" srcOrd="3" destOrd="0" parTransId="{214393DC-7446-477C-A1DF-3922F30ABD24}" sibTransId="{72DAD0D3-0F30-47C4-AA20-1C182296F318}"/>
    <dgm:cxn modelId="{27301030-7776-41D5-B31E-7A4406E5968A}" type="presOf" srcId="{39378435-BF41-41C2-853A-4B809ABF21A7}" destId="{F79CEFA5-FA08-4F73-BBDD-6C4DE63F174C}" srcOrd="0" destOrd="0" presId="urn:microsoft.com/office/officeart/2018/2/layout/IconVerticalSolidList"/>
    <dgm:cxn modelId="{AA23DD5B-95D7-4F44-9D71-5C26F408B9C6}" srcId="{39378435-BF41-41C2-853A-4B809ABF21A7}" destId="{8832372C-969B-4BF2-AD32-07D5F2EEC167}" srcOrd="1" destOrd="0" parTransId="{8F57C100-B718-44D1-A988-FB589A5940EC}" sibTransId="{6ACE7D7E-4CCC-4574-901E-D9300F016231}"/>
    <dgm:cxn modelId="{33B91549-59AD-4983-95D4-ACD8D29C6693}" srcId="{39378435-BF41-41C2-853A-4B809ABF21A7}" destId="{4880DD99-CCC5-4DD4-80DA-D3052006D9F4}" srcOrd="0" destOrd="0" parTransId="{01944CEF-58B2-4687-A383-049B5D926BC3}" sibTransId="{F6B68DEF-A9C4-491D-9173-65B1259E464A}"/>
    <dgm:cxn modelId="{68DCB193-70DD-4DA8-A6C8-EA53AA85E3CC}" type="presOf" srcId="{CCFEAE3E-890D-4244-B4AF-E22B59CCB636}" destId="{28DAF31A-C610-4C94-A443-B0AD37E76314}" srcOrd="0" destOrd="0" presId="urn:microsoft.com/office/officeart/2018/2/layout/IconVerticalSolidList"/>
    <dgm:cxn modelId="{FF7DAEDF-67EA-4026-91B7-3F952E585930}" type="presOf" srcId="{8832372C-969B-4BF2-AD32-07D5F2EEC167}" destId="{8C3286F6-C518-4178-84F5-99D041FA8CA8}" srcOrd="0" destOrd="0" presId="urn:microsoft.com/office/officeart/2018/2/layout/IconVerticalSolidList"/>
    <dgm:cxn modelId="{477E91F6-6BA8-4E95-A1AA-4CA56DAE744B}" type="presOf" srcId="{E08C9898-4030-45D8-9519-95FD0F0F810E}" destId="{BF497048-69D8-40AA-A756-730030A75B88}" srcOrd="0" destOrd="0" presId="urn:microsoft.com/office/officeart/2018/2/layout/IconVerticalSolidList"/>
    <dgm:cxn modelId="{CC0932B3-C6A0-40CF-9420-6DFCC78607A4}" type="presParOf" srcId="{F79CEFA5-FA08-4F73-BBDD-6C4DE63F174C}" destId="{7C7108FA-4522-44BE-9A74-186902BB25B9}" srcOrd="0" destOrd="0" presId="urn:microsoft.com/office/officeart/2018/2/layout/IconVerticalSolidList"/>
    <dgm:cxn modelId="{32937650-527B-40F9-82F9-0D3E8929DCE7}" type="presParOf" srcId="{7C7108FA-4522-44BE-9A74-186902BB25B9}" destId="{3F72E44B-207E-4AEE-9CED-F65A4273A1D5}" srcOrd="0" destOrd="0" presId="urn:microsoft.com/office/officeart/2018/2/layout/IconVerticalSolidList"/>
    <dgm:cxn modelId="{C2F791E6-6456-4A8A-BB69-A8BCE5AD45D8}" type="presParOf" srcId="{7C7108FA-4522-44BE-9A74-186902BB25B9}" destId="{E793DE5F-167D-4614-B861-63532A493007}" srcOrd="1" destOrd="0" presId="urn:microsoft.com/office/officeart/2018/2/layout/IconVerticalSolidList"/>
    <dgm:cxn modelId="{EA4B877F-CCA4-404B-B216-BB79B9DE475C}" type="presParOf" srcId="{7C7108FA-4522-44BE-9A74-186902BB25B9}" destId="{E0A14CDA-E327-4645-89E7-AF4CBF8F241C}" srcOrd="2" destOrd="0" presId="urn:microsoft.com/office/officeart/2018/2/layout/IconVerticalSolidList"/>
    <dgm:cxn modelId="{DB77A8DD-4727-4404-89C0-08691D49FF6D}" type="presParOf" srcId="{7C7108FA-4522-44BE-9A74-186902BB25B9}" destId="{49C2FC96-6484-4A9B-A9F6-9449BF0A3471}" srcOrd="3" destOrd="0" presId="urn:microsoft.com/office/officeart/2018/2/layout/IconVerticalSolidList"/>
    <dgm:cxn modelId="{550E2D9D-0538-4844-A541-1092221E6575}" type="presParOf" srcId="{F79CEFA5-FA08-4F73-BBDD-6C4DE63F174C}" destId="{52F2CF01-402B-4EB0-85C0-782351BAAAF3}" srcOrd="1" destOrd="0" presId="urn:microsoft.com/office/officeart/2018/2/layout/IconVerticalSolidList"/>
    <dgm:cxn modelId="{0917CC2D-DA1C-4F1C-BB51-909F7EBDFE3B}" type="presParOf" srcId="{F79CEFA5-FA08-4F73-BBDD-6C4DE63F174C}" destId="{4DCD02C5-D6B5-41F9-84BD-1229D8284B32}" srcOrd="2" destOrd="0" presId="urn:microsoft.com/office/officeart/2018/2/layout/IconVerticalSolidList"/>
    <dgm:cxn modelId="{2797A318-A6AE-408E-82F3-7F5ADCFBE41F}" type="presParOf" srcId="{4DCD02C5-D6B5-41F9-84BD-1229D8284B32}" destId="{36E01278-5284-49EC-8F98-FC2D18DE6086}" srcOrd="0" destOrd="0" presId="urn:microsoft.com/office/officeart/2018/2/layout/IconVerticalSolidList"/>
    <dgm:cxn modelId="{583FDD7C-6578-4193-AE41-93DA3393867A}" type="presParOf" srcId="{4DCD02C5-D6B5-41F9-84BD-1229D8284B32}" destId="{F1C46DEF-4BB2-46EE-93A0-A1C4362DF551}" srcOrd="1" destOrd="0" presId="urn:microsoft.com/office/officeart/2018/2/layout/IconVerticalSolidList"/>
    <dgm:cxn modelId="{89214B99-5324-40DC-8CF6-B694B4402374}" type="presParOf" srcId="{4DCD02C5-D6B5-41F9-84BD-1229D8284B32}" destId="{FB6C57D5-8465-43C7-BF3C-5E9B70A38520}" srcOrd="2" destOrd="0" presId="urn:microsoft.com/office/officeart/2018/2/layout/IconVerticalSolidList"/>
    <dgm:cxn modelId="{4B75EC46-A86D-43BE-965D-279C12EB472D}" type="presParOf" srcId="{4DCD02C5-D6B5-41F9-84BD-1229D8284B32}" destId="{8C3286F6-C518-4178-84F5-99D041FA8CA8}" srcOrd="3" destOrd="0" presId="urn:microsoft.com/office/officeart/2018/2/layout/IconVerticalSolidList"/>
    <dgm:cxn modelId="{2DFEC5F0-55AA-460E-8272-395368C02ED8}" type="presParOf" srcId="{F79CEFA5-FA08-4F73-BBDD-6C4DE63F174C}" destId="{18979483-5707-4DA2-A3AC-1EBB0F5090BB}" srcOrd="3" destOrd="0" presId="urn:microsoft.com/office/officeart/2018/2/layout/IconVerticalSolidList"/>
    <dgm:cxn modelId="{DBC0B1F2-4CF7-4AC0-B3AE-783FD2A3E59F}" type="presParOf" srcId="{F79CEFA5-FA08-4F73-BBDD-6C4DE63F174C}" destId="{678F5927-7BAC-4D4E-AAE2-5A604ED59BE7}" srcOrd="4" destOrd="0" presId="urn:microsoft.com/office/officeart/2018/2/layout/IconVerticalSolidList"/>
    <dgm:cxn modelId="{8B70BF67-0F87-48FD-A211-792FD3026ABE}" type="presParOf" srcId="{678F5927-7BAC-4D4E-AAE2-5A604ED59BE7}" destId="{E6F420F5-7925-4574-BD64-326900731DCC}" srcOrd="0" destOrd="0" presId="urn:microsoft.com/office/officeart/2018/2/layout/IconVerticalSolidList"/>
    <dgm:cxn modelId="{EC5F14C4-EB5A-4DED-93F7-4C6D226A8DA5}" type="presParOf" srcId="{678F5927-7BAC-4D4E-AAE2-5A604ED59BE7}" destId="{E9998C20-238C-472E-9896-A50BE843787B}" srcOrd="1" destOrd="0" presId="urn:microsoft.com/office/officeart/2018/2/layout/IconVerticalSolidList"/>
    <dgm:cxn modelId="{2C2E5219-DC8C-47ED-B151-6E91DBF9C512}" type="presParOf" srcId="{678F5927-7BAC-4D4E-AAE2-5A604ED59BE7}" destId="{5E1B862C-1DC6-45F0-98FC-9F1E68A21524}" srcOrd="2" destOrd="0" presId="urn:microsoft.com/office/officeart/2018/2/layout/IconVerticalSolidList"/>
    <dgm:cxn modelId="{455C9CE3-A4BB-45DE-BB6C-D220843E2620}" type="presParOf" srcId="{678F5927-7BAC-4D4E-AAE2-5A604ED59BE7}" destId="{28DAF31A-C610-4C94-A443-B0AD37E76314}" srcOrd="3" destOrd="0" presId="urn:microsoft.com/office/officeart/2018/2/layout/IconVerticalSolidList"/>
    <dgm:cxn modelId="{901DA377-65BB-4163-812D-952B38A1130A}" type="presParOf" srcId="{F79CEFA5-FA08-4F73-BBDD-6C4DE63F174C}" destId="{4678610E-879C-4245-B0A3-FD1048409AE2}" srcOrd="5" destOrd="0" presId="urn:microsoft.com/office/officeart/2018/2/layout/IconVerticalSolidList"/>
    <dgm:cxn modelId="{F194EE24-C3E5-4D9D-BA0F-6AECBDCFF819}" type="presParOf" srcId="{F79CEFA5-FA08-4F73-BBDD-6C4DE63F174C}" destId="{7EA96FCE-A8F8-4CF1-BC8E-136F782EB6FA}" srcOrd="6" destOrd="0" presId="urn:microsoft.com/office/officeart/2018/2/layout/IconVerticalSolidList"/>
    <dgm:cxn modelId="{FA0F8D24-B085-4315-8365-0342066F547A}" type="presParOf" srcId="{7EA96FCE-A8F8-4CF1-BC8E-136F782EB6FA}" destId="{FC9CC8F4-AB99-4209-89F5-265EEEA17045}" srcOrd="0" destOrd="0" presId="urn:microsoft.com/office/officeart/2018/2/layout/IconVerticalSolidList"/>
    <dgm:cxn modelId="{BD38EAFA-B1AE-43EB-8E65-120A5A0B7B68}" type="presParOf" srcId="{7EA96FCE-A8F8-4CF1-BC8E-136F782EB6FA}" destId="{A9902D9F-37C9-45B6-B8D3-826BAFE22563}" srcOrd="1" destOrd="0" presId="urn:microsoft.com/office/officeart/2018/2/layout/IconVerticalSolidList"/>
    <dgm:cxn modelId="{B0DB581E-151C-448C-A8AF-CFCD5B4284B1}" type="presParOf" srcId="{7EA96FCE-A8F8-4CF1-BC8E-136F782EB6FA}" destId="{A4537C59-22C8-44A2-B55C-452DCE41EAEB}" srcOrd="2" destOrd="0" presId="urn:microsoft.com/office/officeart/2018/2/layout/IconVerticalSolidList"/>
    <dgm:cxn modelId="{C3279790-71C4-42DF-AD62-2B01D1450DB8}" type="presParOf" srcId="{7EA96FCE-A8F8-4CF1-BC8E-136F782EB6FA}" destId="{BF497048-69D8-40AA-A756-730030A75B8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72E44B-207E-4AEE-9CED-F65A4273A1D5}">
      <dsp:nvSpPr>
        <dsp:cNvPr id="0" name=""/>
        <dsp:cNvSpPr/>
      </dsp:nvSpPr>
      <dsp:spPr>
        <a:xfrm>
          <a:off x="0" y="2005"/>
          <a:ext cx="10363200" cy="10164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93DE5F-167D-4614-B861-63532A493007}">
      <dsp:nvSpPr>
        <dsp:cNvPr id="0" name=""/>
        <dsp:cNvSpPr/>
      </dsp:nvSpPr>
      <dsp:spPr>
        <a:xfrm>
          <a:off x="307472" y="230704"/>
          <a:ext cx="559040" cy="5590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C2FC96-6484-4A9B-A9F6-9449BF0A3471}">
      <dsp:nvSpPr>
        <dsp:cNvPr id="0" name=""/>
        <dsp:cNvSpPr/>
      </dsp:nvSpPr>
      <dsp:spPr>
        <a:xfrm>
          <a:off x="1173986" y="2005"/>
          <a:ext cx="9189213" cy="10164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573" tIns="107573" rIns="107573" bIns="10757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/>
            <a:t>Data Pipeline &amp; Preprocessing</a:t>
          </a:r>
          <a:r>
            <a:rPr lang="en-IN" sz="2000" kern="1200"/>
            <a:t>: Raw images undergo RGB conversion, resizing, normalization, and data augmentation for robust feature learning.</a:t>
          </a:r>
          <a:endParaRPr lang="en-US" sz="2000" kern="1200"/>
        </a:p>
      </dsp:txBody>
      <dsp:txXfrm>
        <a:off x="1173986" y="2005"/>
        <a:ext cx="9189213" cy="1016438"/>
      </dsp:txXfrm>
    </dsp:sp>
    <dsp:sp modelId="{36E01278-5284-49EC-8F98-FC2D18DE6086}">
      <dsp:nvSpPr>
        <dsp:cNvPr id="0" name=""/>
        <dsp:cNvSpPr/>
      </dsp:nvSpPr>
      <dsp:spPr>
        <a:xfrm>
          <a:off x="0" y="1272553"/>
          <a:ext cx="10363200" cy="10164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C46DEF-4BB2-46EE-93A0-A1C4362DF551}">
      <dsp:nvSpPr>
        <dsp:cNvPr id="0" name=""/>
        <dsp:cNvSpPr/>
      </dsp:nvSpPr>
      <dsp:spPr>
        <a:xfrm>
          <a:off x="307472" y="1501251"/>
          <a:ext cx="559040" cy="5590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3286F6-C518-4178-84F5-99D041FA8CA8}">
      <dsp:nvSpPr>
        <dsp:cNvPr id="0" name=""/>
        <dsp:cNvSpPr/>
      </dsp:nvSpPr>
      <dsp:spPr>
        <a:xfrm>
          <a:off x="1173986" y="1272553"/>
          <a:ext cx="9189213" cy="10164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573" tIns="107573" rIns="107573" bIns="10757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/>
            <a:t>Multi-Architecture Modeling</a:t>
          </a:r>
          <a:r>
            <a:rPr lang="en-IN" sz="2000" kern="1200"/>
            <a:t>: Parallel development and evaluation across 4 deep learning models (</a:t>
          </a:r>
          <a:r>
            <a:rPr lang="en-IN" sz="2000" b="1" kern="1200"/>
            <a:t>MobileNetV2</a:t>
          </a:r>
          <a:r>
            <a:rPr lang="en-IN" sz="2000" kern="1200"/>
            <a:t>, </a:t>
          </a:r>
          <a:r>
            <a:rPr lang="en-IN" sz="2000" b="1" kern="1200"/>
            <a:t>YOLOv8</a:t>
          </a:r>
          <a:r>
            <a:rPr lang="en-IN" sz="2000" kern="1200"/>
            <a:t>, </a:t>
          </a:r>
          <a:r>
            <a:rPr lang="en-IN" sz="2000" b="1" kern="1200"/>
            <a:t>ResNet50</a:t>
          </a:r>
          <a:r>
            <a:rPr lang="en-IN" sz="2000" kern="1200"/>
            <a:t>, and </a:t>
          </a:r>
          <a:r>
            <a:rPr lang="en-IN" sz="2000" b="1" kern="1200"/>
            <a:t>EfficientNetB0</a:t>
          </a:r>
          <a:r>
            <a:rPr lang="en-IN" sz="2000" kern="1200"/>
            <a:t>).</a:t>
          </a:r>
          <a:endParaRPr lang="en-US" sz="2000" kern="1200"/>
        </a:p>
      </dsp:txBody>
      <dsp:txXfrm>
        <a:off x="1173986" y="1272553"/>
        <a:ext cx="9189213" cy="1016438"/>
      </dsp:txXfrm>
    </dsp:sp>
    <dsp:sp modelId="{E6F420F5-7925-4574-BD64-326900731DCC}">
      <dsp:nvSpPr>
        <dsp:cNvPr id="0" name=""/>
        <dsp:cNvSpPr/>
      </dsp:nvSpPr>
      <dsp:spPr>
        <a:xfrm>
          <a:off x="0" y="2543100"/>
          <a:ext cx="10363200" cy="10164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998C20-238C-472E-9896-A50BE843787B}">
      <dsp:nvSpPr>
        <dsp:cNvPr id="0" name=""/>
        <dsp:cNvSpPr/>
      </dsp:nvSpPr>
      <dsp:spPr>
        <a:xfrm>
          <a:off x="307472" y="2771799"/>
          <a:ext cx="559040" cy="5590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DAF31A-C610-4C94-A443-B0AD37E76314}">
      <dsp:nvSpPr>
        <dsp:cNvPr id="0" name=""/>
        <dsp:cNvSpPr/>
      </dsp:nvSpPr>
      <dsp:spPr>
        <a:xfrm>
          <a:off x="1173986" y="2543100"/>
          <a:ext cx="9189213" cy="10164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573" tIns="107573" rIns="107573" bIns="10757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/>
            <a:t>Hyperparameter &amp; Fine-Tuning</a:t>
          </a:r>
          <a:r>
            <a:rPr lang="en-IN" sz="2000" kern="1200"/>
            <a:t>: Systematic tuning of learning rates and layer unfreezing to optimize model convergence.</a:t>
          </a:r>
          <a:endParaRPr lang="en-US" sz="2000" kern="1200"/>
        </a:p>
      </dsp:txBody>
      <dsp:txXfrm>
        <a:off x="1173986" y="2543100"/>
        <a:ext cx="9189213" cy="1016438"/>
      </dsp:txXfrm>
    </dsp:sp>
    <dsp:sp modelId="{FC9CC8F4-AB99-4209-89F5-265EEEA17045}">
      <dsp:nvSpPr>
        <dsp:cNvPr id="0" name=""/>
        <dsp:cNvSpPr/>
      </dsp:nvSpPr>
      <dsp:spPr>
        <a:xfrm>
          <a:off x="0" y="3813648"/>
          <a:ext cx="10363200" cy="10164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902D9F-37C9-45B6-B8D3-826BAFE22563}">
      <dsp:nvSpPr>
        <dsp:cNvPr id="0" name=""/>
        <dsp:cNvSpPr/>
      </dsp:nvSpPr>
      <dsp:spPr>
        <a:xfrm>
          <a:off x="307472" y="4042346"/>
          <a:ext cx="559040" cy="5590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97048-69D8-40AA-A756-730030A75B88}">
      <dsp:nvSpPr>
        <dsp:cNvPr id="0" name=""/>
        <dsp:cNvSpPr/>
      </dsp:nvSpPr>
      <dsp:spPr>
        <a:xfrm>
          <a:off x="1173986" y="3813648"/>
          <a:ext cx="9189213" cy="10164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573" tIns="107573" rIns="107573" bIns="10757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/>
            <a:t>XAI &amp; Ablation Validation</a:t>
          </a:r>
          <a:r>
            <a:rPr lang="en-IN" sz="2000" kern="1200"/>
            <a:t>: Uses Explainable AI (</a:t>
          </a:r>
          <a:r>
            <a:rPr lang="en-IN" sz="2000" b="1" kern="1200"/>
            <a:t>Grad-CAM / LIME</a:t>
          </a:r>
          <a:r>
            <a:rPr lang="en-IN" sz="2000" kern="1200"/>
            <a:t>) to visualize model attention maps, backed by an </a:t>
          </a:r>
          <a:r>
            <a:rPr lang="en-IN" sz="2000" b="1" kern="1200"/>
            <a:t>Ablation Study</a:t>
          </a:r>
          <a:r>
            <a:rPr lang="en-IN" sz="2000" kern="1200"/>
            <a:t> to verify feature contributions.</a:t>
          </a:r>
          <a:endParaRPr lang="en-US" sz="2000" kern="1200"/>
        </a:p>
      </dsp:txBody>
      <dsp:txXfrm>
        <a:off x="1173986" y="3813648"/>
        <a:ext cx="9189213" cy="10164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com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com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E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645920"/>
          </a:xfrm>
          <a:custGeom>
            <a:avLst/>
            <a:gdLst/>
            <a:ahLst/>
            <a:cxnLst/>
            <a:rect l="l" t="t" r="r" b="b"/>
            <a:pathLst>
              <a:path w="18288000" h="2086084">
                <a:moveTo>
                  <a:pt x="0" y="0"/>
                </a:moveTo>
                <a:lnTo>
                  <a:pt x="18288000" y="0"/>
                </a:lnTo>
                <a:lnTo>
                  <a:pt x="18288000" y="2086084"/>
                </a:lnTo>
                <a:lnTo>
                  <a:pt x="0" y="20860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914400" y="3886200"/>
            <a:ext cx="16459200" cy="640080"/>
          </a:xfrm>
          <a:prstGeom prst="rect">
            <a:avLst/>
          </a:prstGeom>
        </p:spPr>
        <p:txBody>
          <a:bodyPr wrap="square" lIns="0" rIns="0" rtlCol="0" anchor="t">
            <a:spAutoFit/>
          </a:bodyPr>
          <a:lstStyle/>
          <a:p>
            <a:pPr algn="ctr">
              <a:lnSpc>
                <a:spcPts val="4261"/>
              </a:lnSpc>
            </a:pPr>
            <a:r>
              <a:rPr sz="2400" b="1" dirty="0" err="1">
                <a:latin typeface="Arial"/>
              </a:rPr>
              <a:t>COmpetition</a:t>
            </a:r>
            <a:r>
              <a:rPr sz="2400" b="1">
                <a:latin typeface="Arial"/>
              </a:rPr>
              <a:t>  on Generative and Novel Intelligent Algorithms</a:t>
            </a:r>
          </a:p>
          <a:p>
            <a:pPr algn="ctr">
              <a:lnSpc>
                <a:spcPts val="4261"/>
              </a:lnSpc>
            </a:pPr>
            <a:endParaRPr sz="2800" b="1">
              <a:latin typeface="Arial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14400" y="4617720"/>
            <a:ext cx="16459200" cy="731520"/>
          </a:xfrm>
          <a:prstGeom prst="rect">
            <a:avLst/>
          </a:prstGeom>
        </p:spPr>
        <p:txBody>
          <a:bodyPr wrap="square" lIns="0" rIns="0" rtlCol="0" anchor="t">
            <a:spAutoFit/>
          </a:bodyPr>
          <a:lstStyle/>
          <a:p>
            <a:pPr algn="ctr">
              <a:lnSpc>
                <a:spcPts val="5423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944949"/>
                </a:solidFill>
                <a:latin typeface="Arial"/>
                <a:ea typeface="DM Sans Bold"/>
                <a:cs typeface="DM Sans Bold"/>
                <a:sym typeface="DM Sans Bold"/>
              </a:rPr>
              <a:t>FACIAL EMOTION RECONGITION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5440680"/>
            <a:ext cx="16459200" cy="693460"/>
          </a:xfrm>
          <a:prstGeom prst="rect">
            <a:avLst/>
          </a:prstGeom>
        </p:spPr>
        <p:txBody>
          <a:bodyPr wrap="square" lIns="0" rIns="0" rtlCol="0" anchor="t">
            <a:spAutoFit/>
          </a:bodyPr>
          <a:lstStyle/>
          <a:p>
            <a:pPr algn="ctr">
              <a:lnSpc>
                <a:spcPts val="5423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7D1C1C"/>
                </a:solidFill>
                <a:latin typeface="Arial"/>
                <a:ea typeface="DM Sans Bold"/>
                <a:cs typeface="DM Sans Bold"/>
                <a:sym typeface="DM Sans Bold"/>
              </a:rPr>
              <a:t>Presented by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6226318"/>
            <a:ext cx="16459200" cy="2650982"/>
          </a:xfrm>
          <a:prstGeom prst="rect">
            <a:avLst/>
          </a:prstGeom>
        </p:spPr>
        <p:txBody>
          <a:bodyPr wrap="square" lIns="0" rIns="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32241D"/>
                </a:solidFill>
                <a:latin typeface="DM Sans"/>
                <a:ea typeface="DM Sans"/>
                <a:cs typeface="DM Sans"/>
                <a:sym typeface="DM Sans"/>
              </a:rPr>
              <a:t>TEAM 14</a:t>
            </a:r>
          </a:p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32241D"/>
                </a:solidFill>
                <a:latin typeface="DM Sans Bold"/>
                <a:ea typeface="DM Sans Bold"/>
                <a:cs typeface="DM Sans Bold"/>
                <a:sym typeface="DM Sans Bold"/>
              </a:rPr>
              <a:t>VIJAY PRADHAP S (25322020)</a:t>
            </a:r>
          </a:p>
          <a:p>
            <a:pPr algn="ctr">
              <a:lnSpc>
                <a:spcPct val="120000"/>
              </a:lnSpc>
            </a:pPr>
            <a:r>
              <a:rPr lang="en-US" sz="2800" b="1">
                <a:solidFill>
                  <a:srgbClr val="32241D"/>
                </a:solidFill>
                <a:latin typeface="DM Sans Bold"/>
                <a:ea typeface="DM Sans Bold"/>
                <a:cs typeface="DM Sans Bold"/>
                <a:sym typeface="DM Sans Bold"/>
              </a:rPr>
              <a:t>MANOJKUMAR V(</a:t>
            </a:r>
            <a:r>
              <a:rPr lang="en-US" sz="2800" b="1" dirty="0">
                <a:solidFill>
                  <a:srgbClr val="32241D"/>
                </a:solidFill>
                <a:latin typeface="DM Sans Bold"/>
                <a:ea typeface="DM Sans Bold"/>
                <a:cs typeface="DM Sans Bold"/>
                <a:sym typeface="DM Sans Bold"/>
              </a:rPr>
              <a:t>25322040)</a:t>
            </a:r>
          </a:p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32241D"/>
                </a:solidFill>
                <a:latin typeface="DM Sans Bold"/>
                <a:ea typeface="DM Sans Bold"/>
                <a:cs typeface="DM Sans Bold"/>
                <a:sym typeface="DM Sans Bold"/>
              </a:rPr>
              <a:t>MATHAN PRASATH V(25322047)</a:t>
            </a:r>
          </a:p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32241D"/>
                </a:solidFill>
                <a:latin typeface="DM Sans Bold"/>
                <a:ea typeface="DM Sans Bold"/>
                <a:cs typeface="DM Sans Bold"/>
                <a:sym typeface="DM Sans Bold"/>
              </a:rPr>
              <a:t>KESAVAN M(25322048)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828800"/>
            <a:ext cx="5669280" cy="685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61"/>
              </a:lnSpc>
            </a:pPr>
            <a:r>
              <a:rPr lang="en-US" sz="3600" b="1" spc="-35" dirty="0">
                <a:solidFill>
                  <a:srgbClr val="D44F4F"/>
                </a:solidFill>
                <a:latin typeface="Arial"/>
                <a:ea typeface="DM Sans Bold"/>
                <a:cs typeface="DM Sans Bold"/>
                <a:sym typeface="DM Sans Bold"/>
              </a:rPr>
              <a:t>COGNIA 2026</a:t>
            </a:r>
          </a:p>
        </p:txBody>
      </p:sp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2926080" y="2606040"/>
            <a:ext cx="1614027" cy="100584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4"/>
          <a:stretch>
            <a:fillRect/>
          </a:stretch>
        </p:blipFill>
        <p:spPr>
          <a:xfrm>
            <a:off x="4480560" y="2606040"/>
            <a:ext cx="1129173" cy="1005840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5"/>
          <a:stretch>
            <a:fillRect/>
          </a:stretch>
        </p:blipFill>
        <p:spPr>
          <a:xfrm>
            <a:off x="12344400" y="2606040"/>
            <a:ext cx="2057400" cy="1005840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6"/>
          <a:stretch>
            <a:fillRect/>
          </a:stretch>
        </p:blipFill>
        <p:spPr>
          <a:xfrm>
            <a:off x="14173200" y="2606040"/>
            <a:ext cx="1412708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7200" y="-342900"/>
            <a:ext cx="19164299" cy="1981200"/>
          </a:xfrm>
          <a:custGeom>
            <a:avLst/>
            <a:gdLst/>
            <a:ahLst/>
            <a:cxnLst/>
            <a:rect l="l" t="t" r="r" b="b"/>
            <a:pathLst>
              <a:path w="19212993" h="10182886">
                <a:moveTo>
                  <a:pt x="0" y="0"/>
                </a:moveTo>
                <a:lnTo>
                  <a:pt x="19212993" y="0"/>
                </a:lnTo>
                <a:lnTo>
                  <a:pt x="19212993" y="10182886"/>
                </a:lnTo>
                <a:lnTo>
                  <a:pt x="0" y="10182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4439564" y="193514"/>
            <a:ext cx="14903533" cy="835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6418" b="1" spc="-385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Outline of the Presentation</a:t>
            </a:r>
          </a:p>
        </p:txBody>
      </p:sp>
      <p:sp>
        <p:nvSpPr>
          <p:cNvPr id="6" name="TextBox 3"/>
          <p:cNvSpPr txBox="1"/>
          <p:nvPr/>
        </p:nvSpPr>
        <p:spPr>
          <a:xfrm>
            <a:off x="1676400" y="1714500"/>
            <a:ext cx="13106400" cy="10243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6225"/>
              </a:lnSpc>
              <a:buFont typeface="Wingdings" panose="05000000000000000000" pitchFamily="2" charset="2"/>
              <a:buChar char="q"/>
            </a:pPr>
            <a:r>
              <a:rPr lang="en-US" sz="3600" b="1" spc="-385" dirty="0">
                <a:solidFill>
                  <a:schemeClr val="tx1">
                    <a:lumMod val="75000"/>
                    <a:lumOff val="25000"/>
                  </a:scheme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Overview</a:t>
            </a:r>
          </a:p>
          <a:p>
            <a:pPr marL="571500" indent="-571500">
              <a:lnSpc>
                <a:spcPts val="6225"/>
              </a:lnSpc>
              <a:buFont typeface="Wingdings" panose="05000000000000000000" pitchFamily="2" charset="2"/>
              <a:buChar char="q"/>
            </a:pPr>
            <a:r>
              <a:rPr lang="en-US" sz="3600" b="1" spc="-385" dirty="0">
                <a:solidFill>
                  <a:schemeClr val="tx1">
                    <a:lumMod val="75000"/>
                    <a:lumOff val="25000"/>
                  </a:scheme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Proposed Model Description</a:t>
            </a:r>
          </a:p>
          <a:p>
            <a:pPr marL="571500" indent="-571500">
              <a:lnSpc>
                <a:spcPts val="6225"/>
              </a:lnSpc>
              <a:buFont typeface="Wingdings" panose="05000000000000000000" pitchFamily="2" charset="2"/>
              <a:buChar char="q"/>
            </a:pPr>
            <a:r>
              <a:rPr lang="en-US" sz="3600" b="1" spc="-385" dirty="0">
                <a:solidFill>
                  <a:schemeClr val="tx1">
                    <a:lumMod val="75000"/>
                    <a:lumOff val="25000"/>
                  </a:scheme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Hyperparameter Tuning , XAI  &amp; Ablation Study</a:t>
            </a:r>
          </a:p>
          <a:p>
            <a:pPr marL="571500" indent="-571500">
              <a:lnSpc>
                <a:spcPts val="6225"/>
              </a:lnSpc>
              <a:buFont typeface="Wingdings" panose="05000000000000000000" pitchFamily="2" charset="2"/>
              <a:buChar char="q"/>
            </a:pPr>
            <a:r>
              <a:rPr lang="en-US" sz="3600" b="1" spc="-385" dirty="0">
                <a:solidFill>
                  <a:schemeClr val="tx1">
                    <a:lumMod val="75000"/>
                    <a:lumOff val="25000"/>
                  </a:scheme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Results  and Discussion</a:t>
            </a:r>
          </a:p>
          <a:p>
            <a:pPr marL="571500" indent="-571500">
              <a:lnSpc>
                <a:spcPts val="6225"/>
              </a:lnSpc>
              <a:buFont typeface="Wingdings" panose="05000000000000000000" pitchFamily="2" charset="2"/>
              <a:buChar char="q"/>
            </a:pPr>
            <a:r>
              <a:rPr lang="en-US" sz="3600" b="1" spc="-385" dirty="0">
                <a:solidFill>
                  <a:schemeClr val="tx1">
                    <a:lumMod val="75000"/>
                    <a:lumOff val="25000"/>
                  </a:scheme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Frontend  combinedly 4 models</a:t>
            </a:r>
          </a:p>
          <a:p>
            <a:pPr marL="571500" indent="-571500">
              <a:lnSpc>
                <a:spcPts val="6225"/>
              </a:lnSpc>
              <a:buFont typeface="Wingdings" panose="05000000000000000000" pitchFamily="2" charset="2"/>
              <a:buChar char="q"/>
            </a:pPr>
            <a:r>
              <a:rPr lang="en-US" sz="3600" b="1" spc="-385" dirty="0">
                <a:solidFill>
                  <a:schemeClr val="tx1">
                    <a:lumMod val="75000"/>
                    <a:lumOff val="25000"/>
                  </a:scheme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</a:t>
            </a:r>
          </a:p>
          <a:p>
            <a:pPr>
              <a:lnSpc>
                <a:spcPts val="6225"/>
              </a:lnSpc>
            </a:pPr>
            <a:endParaRPr lang="en-US" sz="3600" b="1" spc="-385" dirty="0">
              <a:solidFill>
                <a:schemeClr val="tx1">
                  <a:lumMod val="75000"/>
                  <a:lumOff val="25000"/>
                </a:schemeClr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571500" indent="-571500">
              <a:lnSpc>
                <a:spcPts val="6225"/>
              </a:lnSpc>
              <a:buFont typeface="Wingdings" panose="05000000000000000000" pitchFamily="2" charset="2"/>
              <a:buChar char="q"/>
            </a:pPr>
            <a:endParaRPr lang="en-US" sz="3600" b="1" spc="-385" dirty="0">
              <a:solidFill>
                <a:schemeClr val="tx1">
                  <a:lumMod val="75000"/>
                  <a:lumOff val="25000"/>
                </a:schemeClr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571500" indent="-571500">
              <a:lnSpc>
                <a:spcPts val="6225"/>
              </a:lnSpc>
              <a:buFont typeface="Wingdings" panose="05000000000000000000" pitchFamily="2" charset="2"/>
              <a:buChar char="q"/>
            </a:pPr>
            <a:endParaRPr lang="en-US" sz="3600" b="1" spc="-385" dirty="0">
              <a:solidFill>
                <a:schemeClr val="tx1">
                  <a:lumMod val="75000"/>
                  <a:lumOff val="25000"/>
                </a:schemeClr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571500" indent="-571500">
              <a:lnSpc>
                <a:spcPts val="6225"/>
              </a:lnSpc>
              <a:buFont typeface="Wingdings" panose="05000000000000000000" pitchFamily="2" charset="2"/>
              <a:buChar char="q"/>
            </a:pPr>
            <a:endParaRPr lang="en-US" sz="3600" b="1" spc="-385" dirty="0">
              <a:solidFill>
                <a:schemeClr val="tx1">
                  <a:lumMod val="75000"/>
                  <a:lumOff val="25000"/>
                </a:schemeClr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571500" indent="-571500">
              <a:lnSpc>
                <a:spcPts val="6225"/>
              </a:lnSpc>
              <a:buFont typeface="Wingdings" panose="05000000000000000000" pitchFamily="2" charset="2"/>
              <a:buChar char="q"/>
            </a:pPr>
            <a:endParaRPr lang="en-US" sz="3600" b="1" spc="-385" dirty="0">
              <a:solidFill>
                <a:schemeClr val="tx1">
                  <a:lumMod val="75000"/>
                  <a:lumOff val="25000"/>
                </a:schemeClr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571500" indent="-571500">
              <a:lnSpc>
                <a:spcPts val="6225"/>
              </a:lnSpc>
              <a:buFont typeface="Wingdings" panose="05000000000000000000" pitchFamily="2" charset="2"/>
              <a:buChar char="q"/>
            </a:pPr>
            <a:endParaRPr lang="en-US" sz="3600" b="1" spc="-385" dirty="0">
              <a:solidFill>
                <a:schemeClr val="tx1">
                  <a:lumMod val="75000"/>
                  <a:lumOff val="25000"/>
                </a:schemeClr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571500" indent="-571500">
              <a:lnSpc>
                <a:spcPts val="6225"/>
              </a:lnSpc>
              <a:buFont typeface="Wingdings" panose="05000000000000000000" pitchFamily="2" charset="2"/>
              <a:buChar char="q"/>
            </a:pPr>
            <a:endParaRPr lang="en-US" sz="3600" b="1" spc="-385" dirty="0">
              <a:solidFill>
                <a:schemeClr val="tx1">
                  <a:lumMod val="75000"/>
                  <a:lumOff val="25000"/>
                </a:schemeClr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E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371600"/>
          </a:xfrm>
          <a:custGeom>
            <a:avLst/>
            <a:gdLst/>
            <a:ahLst/>
            <a:cxnLst/>
            <a:rect l="l" t="t" r="r" b="b"/>
            <a:pathLst>
              <a:path w="19212993" h="10182886">
                <a:moveTo>
                  <a:pt x="0" y="0"/>
                </a:moveTo>
                <a:lnTo>
                  <a:pt x="19212993" y="0"/>
                </a:lnTo>
                <a:lnTo>
                  <a:pt x="19212993" y="10182886"/>
                </a:lnTo>
                <a:lnTo>
                  <a:pt x="0" y="10182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914400" y="320040"/>
            <a:ext cx="1645920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3600" b="1" spc="-385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0"/>
                </a:gradFill>
                <a:latin typeface="Arial"/>
                <a:ea typeface="Open Sauce Bold"/>
                <a:cs typeface="Open Sauce Bold"/>
                <a:sym typeface="Open Sauce Bold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924800" cy="9039334"/>
          </a:xfrm>
          <a:prstGeom prst="rect">
            <a:avLst/>
          </a:prstGeom>
        </p:spPr>
        <p:txBody>
          <a:bodyPr wrap="square" lIns="45720" rIns="45720" rtlCol="0" anchor="t">
            <a:spAutoFit/>
          </a:bodyPr>
          <a:lstStyle/>
          <a:p>
            <a:pPr lvl="0">
              <a:lnSpc>
                <a:spcPct val="110000"/>
              </a:lnSpc>
              <a:spcAft>
                <a:spcPts val="400"/>
              </a:spcAft>
            </a:pPr>
            <a:r>
              <a:rPr lang="en-US" sz="3600" b="1" dirty="0">
                <a:latin typeface="Arial"/>
              </a:rPr>
              <a:t>Objectives</a:t>
            </a:r>
          </a:p>
          <a:p>
            <a:pPr lvl="0">
              <a:lnSpc>
                <a:spcPct val="110000"/>
              </a:lnSpc>
              <a:spcAft>
                <a:spcPts val="400"/>
              </a:spcAft>
            </a:pPr>
            <a:endParaRPr lang="en-US" sz="3600" dirty="0"/>
          </a:p>
          <a:p>
            <a:pPr marL="914400" lvl="1" indent="-457200">
              <a:lnSpc>
                <a:spcPct val="110000"/>
              </a:lnSpc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IN" sz="3600" dirty="0">
                <a:latin typeface="Arial"/>
              </a:rPr>
              <a:t>Classify facial images into </a:t>
            </a:r>
            <a:r>
              <a:rPr lang="en-IN" sz="3600" b="1" dirty="0">
                <a:latin typeface="Arial"/>
              </a:rPr>
              <a:t>7 human emotions</a:t>
            </a:r>
            <a:r>
              <a:rPr lang="en-IN" sz="3600" dirty="0">
                <a:latin typeface="Arial"/>
              </a:rPr>
              <a:t> from </a:t>
            </a:r>
            <a:r>
              <a:rPr lang="en-IN" sz="3600" b="1" dirty="0">
                <a:latin typeface="Arial"/>
              </a:rPr>
              <a:t>224 × 224 RGB images</a:t>
            </a:r>
            <a:r>
              <a:rPr lang="en-IN" sz="3600" dirty="0">
                <a:latin typeface="Arial"/>
              </a:rPr>
              <a:t>.</a:t>
            </a:r>
            <a:endParaRPr lang="en-US" sz="3600" dirty="0"/>
          </a:p>
          <a:p>
            <a:pPr marL="914400" lvl="1" indent="-457200">
              <a:lnSpc>
                <a:spcPct val="110000"/>
              </a:lnSpc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IN" sz="3600" dirty="0">
                <a:latin typeface="Arial"/>
              </a:rPr>
              <a:t>Four different models were designed to maximize </a:t>
            </a:r>
            <a:r>
              <a:rPr lang="en-IN" sz="3600" b="1" dirty="0">
                <a:latin typeface="Arial"/>
              </a:rPr>
              <a:t>accuracy, speed, and efficiency</a:t>
            </a:r>
            <a:r>
              <a:rPr lang="en-IN" sz="3600" dirty="0">
                <a:latin typeface="Arial"/>
              </a:rPr>
              <a:t>.</a:t>
            </a:r>
            <a:endParaRPr lang="en-US" sz="3600" dirty="0"/>
          </a:p>
          <a:p>
            <a:pPr>
              <a:lnSpc>
                <a:spcPct val="110000"/>
              </a:lnSpc>
              <a:spcAft>
                <a:spcPts val="400"/>
              </a:spcAft>
            </a:pPr>
            <a:endParaRPr lang="en-US" sz="3600" b="1" spc="-385" dirty="0">
              <a:solidFill>
                <a:schemeClr val="tx1">
                  <a:lumMod val="75000"/>
                  <a:lumOff val="25000"/>
                </a:schemeClr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571500" indent="-571500">
              <a:lnSpc>
                <a:spcPct val="110000"/>
              </a:lnSpc>
              <a:spcAft>
                <a:spcPts val="400"/>
              </a:spcAft>
              <a:buFont typeface="Wingdings" panose="05000000000000000000" pitchFamily="2" charset="2"/>
              <a:buChar char="q"/>
            </a:pPr>
            <a:endParaRPr lang="en-US" sz="3600" b="1" spc="-385" dirty="0">
              <a:solidFill>
                <a:schemeClr val="tx1">
                  <a:lumMod val="75000"/>
                  <a:lumOff val="25000"/>
                </a:schemeClr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571500" indent="-571500">
              <a:lnSpc>
                <a:spcPct val="110000"/>
              </a:lnSpc>
              <a:spcAft>
                <a:spcPts val="400"/>
              </a:spcAft>
              <a:buFont typeface="Wingdings" panose="05000000000000000000" pitchFamily="2" charset="2"/>
              <a:buChar char="q"/>
            </a:pPr>
            <a:endParaRPr lang="en-US" sz="3600" b="1" spc="-385" dirty="0">
              <a:solidFill>
                <a:schemeClr val="tx1">
                  <a:lumMod val="75000"/>
                  <a:lumOff val="25000"/>
                </a:schemeClr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571500" indent="-571500">
              <a:lnSpc>
                <a:spcPct val="110000"/>
              </a:lnSpc>
              <a:spcAft>
                <a:spcPts val="400"/>
              </a:spcAft>
              <a:buFont typeface="Wingdings" panose="05000000000000000000" pitchFamily="2" charset="2"/>
              <a:buChar char="q"/>
            </a:pPr>
            <a:endParaRPr lang="en-US" sz="3600" b="1" spc="-385" dirty="0">
              <a:solidFill>
                <a:schemeClr val="tx1">
                  <a:lumMod val="75000"/>
                  <a:lumOff val="25000"/>
                </a:schemeClr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571500" indent="-571500">
              <a:lnSpc>
                <a:spcPct val="110000"/>
              </a:lnSpc>
              <a:spcAft>
                <a:spcPts val="400"/>
              </a:spcAft>
              <a:buFont typeface="Wingdings" panose="05000000000000000000" pitchFamily="2" charset="2"/>
              <a:buChar char="q"/>
            </a:pPr>
            <a:endParaRPr lang="en-US" sz="3600" b="1" spc="-385" dirty="0">
              <a:solidFill>
                <a:schemeClr val="tx1">
                  <a:lumMod val="75000"/>
                  <a:lumOff val="25000"/>
                </a:schemeClr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571500" indent="-571500">
              <a:lnSpc>
                <a:spcPct val="110000"/>
              </a:lnSpc>
              <a:spcAft>
                <a:spcPts val="400"/>
              </a:spcAft>
              <a:buFont typeface="Wingdings" panose="05000000000000000000" pitchFamily="2" charset="2"/>
              <a:buChar char="q"/>
            </a:pPr>
            <a:endParaRPr lang="en-US" sz="3600" b="1" spc="-385" dirty="0">
              <a:solidFill>
                <a:schemeClr val="tx1">
                  <a:lumMod val="75000"/>
                  <a:lumOff val="25000"/>
                </a:schemeClr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CAC4CF-3E7A-894E-C6BF-C8971F625C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1691640"/>
            <a:ext cx="7541455" cy="700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118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B510F-1FB3-BBCE-F0B5-D66DB7AF9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718A81C-CA8B-20AA-6424-5CF3CBE6CA78}"/>
              </a:ext>
            </a:extLst>
          </p:cNvPr>
          <p:cNvSpPr/>
          <p:nvPr/>
        </p:nvSpPr>
        <p:spPr>
          <a:xfrm>
            <a:off x="0" y="0"/>
            <a:ext cx="18288000" cy="1371600"/>
          </a:xfrm>
          <a:custGeom>
            <a:avLst/>
            <a:gdLst/>
            <a:ahLst/>
            <a:cxnLst/>
            <a:rect l="l" t="t" r="r" b="b"/>
            <a:pathLst>
              <a:path w="19212993" h="10182886">
                <a:moveTo>
                  <a:pt x="0" y="0"/>
                </a:moveTo>
                <a:lnTo>
                  <a:pt x="19212993" y="0"/>
                </a:lnTo>
                <a:lnTo>
                  <a:pt x="19212993" y="10182886"/>
                </a:lnTo>
                <a:lnTo>
                  <a:pt x="0" y="10182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9D8EE62-A79E-F6B9-0AE0-4378FD0E6A70}"/>
              </a:ext>
            </a:extLst>
          </p:cNvPr>
          <p:cNvSpPr txBox="1"/>
          <p:nvPr/>
        </p:nvSpPr>
        <p:spPr>
          <a:xfrm>
            <a:off x="914400" y="320040"/>
            <a:ext cx="1645920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3600" b="1" spc="-385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0"/>
                </a:gradFill>
                <a:latin typeface="Arial"/>
                <a:ea typeface="Open Sauce Bold"/>
                <a:cs typeface="Open Sauce Bold"/>
                <a:sym typeface="Open Sauce Bold"/>
              </a:rPr>
              <a:t>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7DF5A8-96A2-D4CF-58FE-5FA4D2009F0E}"/>
              </a:ext>
            </a:extLst>
          </p:cNvPr>
          <p:cNvSpPr txBox="1"/>
          <p:nvPr/>
        </p:nvSpPr>
        <p:spPr>
          <a:xfrm>
            <a:off x="1219200" y="2095500"/>
            <a:ext cx="9982200" cy="514243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lvl="0">
              <a:lnSpc>
                <a:spcPct val="110000"/>
              </a:lnSpc>
              <a:spcAft>
                <a:spcPts val="400"/>
              </a:spcAft>
            </a:pPr>
            <a:r>
              <a:rPr lang="en-US" sz="3200" b="1" dirty="0">
                <a:latin typeface="Arial"/>
              </a:rPr>
              <a:t>Problem Statement</a:t>
            </a:r>
          </a:p>
          <a:p>
            <a:pPr lvl="0">
              <a:lnSpc>
                <a:spcPct val="110000"/>
              </a:lnSpc>
              <a:spcAft>
                <a:spcPts val="400"/>
              </a:spcAft>
            </a:pPr>
            <a:endParaRPr lang="en-US" sz="3200" dirty="0"/>
          </a:p>
          <a:p>
            <a:pPr marL="800100" lvl="1" indent="-342900">
              <a:lnSpc>
                <a:spcPct val="110000"/>
              </a:lnSpc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IN" sz="3200" b="1" dirty="0">
                <a:latin typeface="Arial"/>
              </a:rPr>
              <a:t>Facial Emotion Recognition (FER) </a:t>
            </a:r>
            <a:r>
              <a:rPr lang="en-IN" sz="3200" dirty="0">
                <a:latin typeface="Arial"/>
              </a:rPr>
              <a:t>detects and classifies human emotions from facial expressions.</a:t>
            </a:r>
            <a:endParaRPr lang="en-US" sz="3200" dirty="0"/>
          </a:p>
          <a:p>
            <a:pPr marL="800100" lvl="1" indent="-342900">
              <a:lnSpc>
                <a:spcPct val="110000"/>
              </a:lnSpc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IN" sz="3200" dirty="0">
                <a:latin typeface="Arial"/>
              </a:rPr>
              <a:t>It is a key technology in </a:t>
            </a:r>
            <a:r>
              <a:rPr lang="en-IN" sz="3200" b="1" dirty="0">
                <a:latin typeface="Arial"/>
              </a:rPr>
              <a:t>Human–Computer Interaction (HCI)</a:t>
            </a:r>
            <a:r>
              <a:rPr lang="en-IN" sz="3200" dirty="0">
                <a:latin typeface="Arial"/>
              </a:rPr>
              <a:t>.</a:t>
            </a:r>
            <a:endParaRPr lang="en-US" sz="3200" dirty="0"/>
          </a:p>
          <a:p>
            <a:pPr marL="800100" lvl="1" indent="-342900">
              <a:lnSpc>
                <a:spcPct val="110000"/>
              </a:lnSpc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IN" sz="3200" b="1" dirty="0">
                <a:latin typeface="Arial"/>
              </a:rPr>
              <a:t>Facial Muscle Movements </a:t>
            </a:r>
            <a:r>
              <a:rPr lang="en-IN" sz="3200" dirty="0">
                <a:latin typeface="Arial"/>
              </a:rPr>
              <a:t>to automatically recognize human emotions.</a:t>
            </a:r>
            <a:endParaRPr lang="en-US" sz="3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DBB2B8-8891-16AE-0ED1-7E8F5F271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1692208"/>
            <a:ext cx="5120640" cy="756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276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9CC97-6684-FC84-D2F8-23DF6370E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5293634-B5D6-2F11-DECE-E967D8BFDC8B}"/>
              </a:ext>
            </a:extLst>
          </p:cNvPr>
          <p:cNvSpPr/>
          <p:nvPr/>
        </p:nvSpPr>
        <p:spPr>
          <a:xfrm>
            <a:off x="0" y="0"/>
            <a:ext cx="18288000" cy="1371600"/>
          </a:xfrm>
          <a:custGeom>
            <a:avLst/>
            <a:gdLst/>
            <a:ahLst/>
            <a:cxnLst/>
            <a:rect l="l" t="t" r="r" b="b"/>
            <a:pathLst>
              <a:path w="19212993" h="10182886">
                <a:moveTo>
                  <a:pt x="0" y="0"/>
                </a:moveTo>
                <a:lnTo>
                  <a:pt x="19212993" y="0"/>
                </a:lnTo>
                <a:lnTo>
                  <a:pt x="19212993" y="10182886"/>
                </a:lnTo>
                <a:lnTo>
                  <a:pt x="0" y="10182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C361440-43C3-DBB8-1637-4860FE8B913A}"/>
              </a:ext>
            </a:extLst>
          </p:cNvPr>
          <p:cNvSpPr txBox="1"/>
          <p:nvPr/>
        </p:nvSpPr>
        <p:spPr>
          <a:xfrm>
            <a:off x="914400" y="320040"/>
            <a:ext cx="1645920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3600" b="1" spc="-385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0"/>
                </a:gradFill>
                <a:latin typeface="Arial"/>
                <a:ea typeface="Open Sauce Bold"/>
                <a:cs typeface="Open Sauce Bold"/>
                <a:sym typeface="Open Sauce Bold"/>
              </a:rPr>
              <a:t>Overview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CB1325-437C-5D75-05BA-955B6CEA22AF}"/>
              </a:ext>
            </a:extLst>
          </p:cNvPr>
          <p:cNvSpPr txBox="1"/>
          <p:nvPr/>
        </p:nvSpPr>
        <p:spPr>
          <a:xfrm>
            <a:off x="1066800" y="1906717"/>
            <a:ext cx="8001000" cy="79934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lvl="0">
              <a:lnSpc>
                <a:spcPct val="105000"/>
              </a:lnSpc>
              <a:spcAft>
                <a:spcPts val="200"/>
              </a:spcAft>
            </a:pPr>
            <a:r>
              <a:rPr lang="en-US" sz="2800" b="1" dirty="0">
                <a:latin typeface="Arial"/>
              </a:rPr>
              <a:t>Dataset  Descriptions</a:t>
            </a:r>
          </a:p>
          <a:p>
            <a:pPr lvl="0">
              <a:lnSpc>
                <a:spcPct val="105000"/>
              </a:lnSpc>
              <a:spcAft>
                <a:spcPts val="200"/>
              </a:spcAft>
            </a:pPr>
            <a:endParaRPr lang="en-US" sz="2800" dirty="0"/>
          </a:p>
          <a:p>
            <a:pPr marL="800100" lvl="1" indent="-342900">
              <a:lnSpc>
                <a:spcPct val="105000"/>
              </a:lnSpc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IN" sz="2800" b="1" dirty="0">
                <a:latin typeface="Arial"/>
              </a:rPr>
              <a:t>Dataset:</a:t>
            </a:r>
            <a:r>
              <a:rPr lang="en-IN" sz="2800" dirty="0">
                <a:latin typeface="Arial"/>
              </a:rPr>
              <a:t> FER-2013</a:t>
            </a:r>
            <a:endParaRPr lang="en-US" sz="2800" dirty="0"/>
          </a:p>
          <a:p>
            <a:pPr marL="800100" lvl="1" indent="-342900">
              <a:lnSpc>
                <a:spcPct val="105000"/>
              </a:lnSpc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IN" sz="2800" b="1" dirty="0">
                <a:latin typeface="Arial"/>
              </a:rPr>
              <a:t>Total Images:</a:t>
            </a:r>
            <a:r>
              <a:rPr lang="en-IN" sz="2800" dirty="0">
                <a:latin typeface="Arial"/>
              </a:rPr>
              <a:t> 7,529 facial images</a:t>
            </a:r>
            <a:endParaRPr lang="en-US" sz="2800" dirty="0"/>
          </a:p>
          <a:p>
            <a:pPr marL="800100" lvl="1" indent="-342900">
              <a:lnSpc>
                <a:spcPct val="105000"/>
              </a:lnSpc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IN" sz="2800" b="1" dirty="0">
                <a:latin typeface="Arial"/>
              </a:rPr>
              <a:t>Emotion Classes:</a:t>
            </a:r>
            <a:r>
              <a:rPr lang="en-IN" sz="2800" dirty="0">
                <a:latin typeface="Arial"/>
              </a:rPr>
              <a:t> 7 (Angry, Disgust, Fear, Happy, Neutral, Sad, Surprise)</a:t>
            </a:r>
            <a:endParaRPr lang="en-US" sz="2800" dirty="0"/>
          </a:p>
          <a:p>
            <a:pPr marL="800100" lvl="1" indent="-342900">
              <a:lnSpc>
                <a:spcPct val="105000"/>
              </a:lnSpc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IN" sz="2800" b="1" dirty="0">
                <a:latin typeface="Arial"/>
              </a:rPr>
              <a:t>Image Type:</a:t>
            </a:r>
            <a:r>
              <a:rPr lang="en-IN" sz="2800" dirty="0">
                <a:latin typeface="Arial"/>
              </a:rPr>
              <a:t> Real-world ("in-the-wild") facial expressions</a:t>
            </a:r>
            <a:endParaRPr lang="en-US" sz="2800" dirty="0"/>
          </a:p>
          <a:p>
            <a:pPr marL="800100" lvl="1" indent="-342900">
              <a:lnSpc>
                <a:spcPct val="105000"/>
              </a:lnSpc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IN" sz="2800" b="1" dirty="0">
                <a:latin typeface="Arial"/>
              </a:rPr>
              <a:t>Challenges:</a:t>
            </a:r>
            <a:r>
              <a:rPr lang="en-IN" sz="2800" dirty="0">
                <a:latin typeface="Arial"/>
              </a:rPr>
              <a:t> Uneven lighting, head pose variations, and expression overlap</a:t>
            </a:r>
            <a:endParaRPr lang="en-US" sz="2800" dirty="0"/>
          </a:p>
          <a:p>
            <a:pPr marL="800100" lvl="1" indent="-342900">
              <a:lnSpc>
                <a:spcPct val="105000"/>
              </a:lnSpc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IN" sz="2800" b="1" dirty="0">
                <a:latin typeface="Arial"/>
              </a:rPr>
              <a:t>Preprocessing:</a:t>
            </a:r>
            <a:r>
              <a:rPr lang="en-IN" sz="2800" dirty="0">
                <a:latin typeface="Arial"/>
              </a:rPr>
              <a:t> Grayscale images converted to </a:t>
            </a:r>
            <a:r>
              <a:rPr lang="en-IN" sz="2800" b="1" dirty="0">
                <a:latin typeface="Arial"/>
              </a:rPr>
              <a:t>224 × 224 RGB</a:t>
            </a:r>
            <a:endParaRPr lang="en-US" sz="2800" dirty="0"/>
          </a:p>
          <a:p>
            <a:pPr marL="800100" lvl="1" indent="-342900">
              <a:lnSpc>
                <a:spcPct val="105000"/>
              </a:lnSpc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IN" sz="2800" b="1" dirty="0">
                <a:latin typeface="Arial"/>
              </a:rPr>
              <a:t>Evaluation:</a:t>
            </a:r>
            <a:r>
              <a:rPr lang="en-IN" sz="2800" dirty="0">
                <a:latin typeface="Arial"/>
              </a:rPr>
              <a:t> Balanced test set with </a:t>
            </a:r>
            <a:r>
              <a:rPr lang="en-IN" sz="2800" b="1" dirty="0">
                <a:latin typeface="Arial"/>
              </a:rPr>
              <a:t>180 images per emotion class</a:t>
            </a:r>
            <a:r>
              <a:rPr lang="en-IN" sz="2800" dirty="0">
                <a:latin typeface="Arial"/>
              </a:rPr>
              <a:t> for unbiased performance assessment </a:t>
            </a:r>
          </a:p>
          <a:p>
            <a:pPr marL="800100" lvl="1" indent="-342900">
              <a:lnSpc>
                <a:spcPct val="105000"/>
              </a:lnSpc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IN" sz="2800" b="1" dirty="0">
                <a:latin typeface="Arial"/>
              </a:rPr>
              <a:t>Split- </a:t>
            </a:r>
            <a:r>
              <a:rPr lang="en-IN" sz="2800" dirty="0">
                <a:latin typeface="Arial"/>
              </a:rPr>
              <a:t>70% training,15% valuation &amp; 15% testing</a:t>
            </a:r>
            <a:endParaRPr lang="en-US" sz="2800" b="1" dirty="0"/>
          </a:p>
        </p:txBody>
      </p:sp>
      <p:pic>
        <p:nvPicPr>
          <p:cNvPr id="14" name="Picture 13" descr="Your result">
            <a:extLst>
              <a:ext uri="{FF2B5EF4-FFF2-40B4-BE49-F238E27FC236}">
                <a16:creationId xmlns:a16="http://schemas.microsoft.com/office/drawing/2014/main" id="{78E2426F-B6AE-637F-4AB3-D3AD1B593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799" y="1826508"/>
            <a:ext cx="7675221" cy="712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462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E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371600"/>
          </a:xfrm>
          <a:custGeom>
            <a:avLst/>
            <a:gdLst/>
            <a:ahLst/>
            <a:cxnLst/>
            <a:rect l="l" t="t" r="r" b="b"/>
            <a:pathLst>
              <a:path w="19212993" h="10182886">
                <a:moveTo>
                  <a:pt x="0" y="0"/>
                </a:moveTo>
                <a:lnTo>
                  <a:pt x="19212993" y="0"/>
                </a:lnTo>
                <a:lnTo>
                  <a:pt x="19212993" y="10182886"/>
                </a:lnTo>
                <a:lnTo>
                  <a:pt x="0" y="10182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914400" y="320040"/>
            <a:ext cx="1645920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3600" b="1" spc="-385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0"/>
                </a:gradFill>
                <a:latin typeface="Arial"/>
                <a:ea typeface="Open Sauce Bold"/>
                <a:cs typeface="Open Sauce Bold"/>
                <a:sym typeface="Open Sauce Bold"/>
              </a:rPr>
              <a:t>Proposed Model Description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F3FA92-7010-3DB0-6D45-A5A454ADD4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0" y="1181101"/>
            <a:ext cx="6781800" cy="9105900"/>
          </a:xfrm>
          <a:prstGeom prst="rect">
            <a:avLst/>
          </a:prstGeom>
        </p:spPr>
      </p:pic>
      <p:graphicFrame>
        <p:nvGraphicFramePr>
          <p:cNvPr id="10" name="TextBox 7">
            <a:extLst>
              <a:ext uri="{FF2B5EF4-FFF2-40B4-BE49-F238E27FC236}">
                <a16:creationId xmlns:a16="http://schemas.microsoft.com/office/drawing/2014/main" id="{CF60F9BB-C680-B473-A05C-7100A158354A}"/>
              </a:ext>
            </a:extLst>
          </p:cNvPr>
          <p:cNvGraphicFramePr/>
          <p:nvPr/>
        </p:nvGraphicFramePr>
        <p:xfrm>
          <a:off x="914400" y="2247900"/>
          <a:ext cx="10363200" cy="4832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2030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E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25084"/>
            <a:ext cx="18288000" cy="1371600"/>
          </a:xfrm>
          <a:custGeom>
            <a:avLst/>
            <a:gdLst/>
            <a:ahLst/>
            <a:cxnLst/>
            <a:rect l="l" t="t" r="r" b="b"/>
            <a:pathLst>
              <a:path w="19212993" h="10182886">
                <a:moveTo>
                  <a:pt x="0" y="0"/>
                </a:moveTo>
                <a:lnTo>
                  <a:pt x="19212993" y="0"/>
                </a:lnTo>
                <a:lnTo>
                  <a:pt x="19212993" y="10182886"/>
                </a:lnTo>
                <a:lnTo>
                  <a:pt x="0" y="10182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914400" y="320040"/>
            <a:ext cx="1645920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3400" b="1" spc="-385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0"/>
                </a:gradFill>
                <a:latin typeface="Arial"/>
                <a:ea typeface="Open Sauce Bold"/>
                <a:cs typeface="Open Sauce Bold"/>
                <a:sym typeface="Open Sauce Bold"/>
              </a:rPr>
              <a:t>Hyperparameter Tuning, Ablation Study &amp; XAI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442D34A-A1D9-AF7E-AB57-6E5739876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217095"/>
              </p:ext>
            </p:extLst>
          </p:nvPr>
        </p:nvGraphicFramePr>
        <p:xfrm>
          <a:off x="914400" y="1691640"/>
          <a:ext cx="16078200" cy="8365011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2679700">
                  <a:extLst>
                    <a:ext uri="{9D8B030D-6E8A-4147-A177-3AD203B41FA5}">
                      <a16:colId xmlns:a16="http://schemas.microsoft.com/office/drawing/2014/main" val="2694750930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11798153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2125739761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2924407720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3579652588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4142497909"/>
                    </a:ext>
                  </a:extLst>
                </a:gridCol>
              </a:tblGrid>
              <a:tr h="4846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cap="none" spc="0" dirty="0">
                          <a:ln w="9525">
                            <a:solidFill>
                              <a:schemeClr val="bg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>
                            <a:outerShdw blurRad="50800" dist="38100" algn="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Hyperparameter</a:t>
                      </a:r>
                    </a:p>
                  </a:txBody>
                  <a:tcPr marL="48666" marR="48666" marT="24333" marB="24333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cap="none" spc="0" dirty="0">
                          <a:ln w="9525">
                            <a:solidFill>
                              <a:schemeClr val="bg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>
                            <a:outerShdw blurRad="50800" dist="38100" algn="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Options</a:t>
                      </a:r>
                    </a:p>
                  </a:txBody>
                  <a:tcPr marL="48666" marR="48666" marT="24333" marB="24333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cap="none" spc="0" dirty="0">
                          <a:ln w="9525">
                            <a:solidFill>
                              <a:schemeClr val="bg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>
                            <a:outerShdw blurRad="50800" dist="38100" algn="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EfficientNet-B0</a:t>
                      </a:r>
                    </a:p>
                  </a:txBody>
                  <a:tcPr marL="48666" marR="48666" marT="24333" marB="24333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cap="none" spc="0" dirty="0">
                          <a:ln w="9525">
                            <a:solidFill>
                              <a:schemeClr val="bg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>
                            <a:outerShdw blurRad="50800" dist="38100" algn="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YOLOv8 Classifier</a:t>
                      </a:r>
                    </a:p>
                  </a:txBody>
                  <a:tcPr marL="48666" marR="48666" marT="24333" marB="24333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cap="none" spc="0" dirty="0">
                          <a:ln w="9525">
                            <a:solidFill>
                              <a:schemeClr val="bg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>
                            <a:outerShdw blurRad="50800" dist="38100" algn="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ResNet50</a:t>
                      </a:r>
                    </a:p>
                  </a:txBody>
                  <a:tcPr marL="48666" marR="48666" marT="24333" marB="24333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cap="none" spc="0" dirty="0">
                          <a:ln w="9525">
                            <a:solidFill>
                              <a:schemeClr val="bg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>
                            <a:outerShdw blurRad="50800" dist="38100" algn="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MobileNetV2</a:t>
                      </a:r>
                    </a:p>
                  </a:txBody>
                  <a:tcPr marL="48666" marR="48666" marT="24333" marB="24333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411817"/>
                  </a:ext>
                </a:extLst>
              </a:tr>
              <a:tr h="484661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/>
                        <a:t>Learning Rate</a:t>
                      </a:r>
                      <a:endParaRPr lang="en-IN" sz="2200" dirty="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1e-5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/>
                        <a:t>0.8233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/>
                        <a:t>0.7912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/>
                        <a:t>0.7845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/>
                        <a:t>0.7620</a:t>
                      </a:r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1427049486"/>
                  </a:ext>
                </a:extLst>
              </a:tr>
              <a:tr h="484661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200" dirty="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1e-4 / 5e-4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0.8285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0.8410 (5e-5)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0.8120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0.8290 (5e-4)</a:t>
                      </a:r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3913675764"/>
                  </a:ext>
                </a:extLst>
              </a:tr>
              <a:tr h="339593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200" dirty="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1e-3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0.8425</a:t>
                      </a:r>
                      <a:endParaRPr lang="en-IN" sz="220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0.8201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0.8310</a:t>
                      </a:r>
                      <a:endParaRPr lang="en-IN" sz="220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0.8180</a:t>
                      </a:r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1236493278"/>
                  </a:ext>
                </a:extLst>
              </a:tr>
              <a:tr h="339593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200" dirty="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1e-2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/>
                        <a:t>0.7124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0.6850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0.6980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0.6710</a:t>
                      </a:r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2632154470"/>
                  </a:ext>
                </a:extLst>
              </a:tr>
              <a:tr h="339593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/>
                        <a:t>Batch Size</a:t>
                      </a:r>
                      <a:endParaRPr lang="en-IN" sz="2200" dirty="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8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0.8233</a:t>
                      </a:r>
                      <a:endParaRPr lang="en-IN" sz="220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0.8120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0.7910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0.7890</a:t>
                      </a:r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2468675388"/>
                  </a:ext>
                </a:extLst>
              </a:tr>
              <a:tr h="339593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200" dirty="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16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0.7825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0.8350</a:t>
                      </a:r>
                      <a:endParaRPr lang="en-IN" sz="220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0.8050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0.8010</a:t>
                      </a:r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975005779"/>
                  </a:ext>
                </a:extLst>
              </a:tr>
              <a:tr h="339593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200" dirty="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32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0.7947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0.8201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0.8140</a:t>
                      </a:r>
                      <a:endParaRPr lang="en-IN" sz="220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0.8180</a:t>
                      </a:r>
                      <a:endParaRPr lang="en-IN" sz="2200"/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1686916271"/>
                  </a:ext>
                </a:extLst>
              </a:tr>
              <a:tr h="339593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200" dirty="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/>
                        <a:t>64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0.7621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0.7740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0.7580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0.7490</a:t>
                      </a:r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4217347208"/>
                  </a:ext>
                </a:extLst>
              </a:tr>
              <a:tr h="339593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/>
                        <a:t>Epochs</a:t>
                      </a:r>
                      <a:endParaRPr lang="en-IN" sz="2200" dirty="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10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0.4159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/>
                        <a:t>0.3295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0.4192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0.3727</a:t>
                      </a:r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1402701531"/>
                  </a:ext>
                </a:extLst>
              </a:tr>
              <a:tr h="339593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200" dirty="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/>
                        <a:t>20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0.7825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0.8201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0.7992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0.8012</a:t>
                      </a:r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1161286830"/>
                  </a:ext>
                </a:extLst>
              </a:tr>
              <a:tr h="339593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200" dirty="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30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0.8941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0.9426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0.8795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0.8734</a:t>
                      </a:r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705459471"/>
                  </a:ext>
                </a:extLst>
              </a:tr>
              <a:tr h="339593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200" dirty="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/>
                        <a:t>50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0.9857</a:t>
                      </a:r>
                      <a:endParaRPr lang="en-IN" sz="220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0.9552</a:t>
                      </a:r>
                      <a:endParaRPr lang="en-IN" sz="220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0.9457</a:t>
                      </a:r>
                      <a:endParaRPr lang="en-IN" sz="220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0.9352</a:t>
                      </a:r>
                      <a:endParaRPr lang="en-IN" sz="2200"/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2738212220"/>
                  </a:ext>
                </a:extLst>
              </a:tr>
              <a:tr h="339593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/>
                        <a:t>Dropout</a:t>
                      </a:r>
                      <a:endParaRPr lang="en-IN" sz="2200" dirty="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/>
                        <a:t>0.0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0.8233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0.8150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0.7980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0.7850</a:t>
                      </a:r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3929351339"/>
                  </a:ext>
                </a:extLst>
              </a:tr>
              <a:tr h="339593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200" dirty="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0.2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0.8541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0.8410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0.8240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0.8320</a:t>
                      </a:r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2439800592"/>
                  </a:ext>
                </a:extLst>
              </a:tr>
              <a:tr h="339593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200" dirty="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0.3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0.8752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0.8620</a:t>
                      </a:r>
                      <a:endParaRPr lang="en-IN" sz="220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0.8510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0.8734</a:t>
                      </a:r>
                      <a:endParaRPr lang="en-IN" sz="2200"/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3655562906"/>
                  </a:ext>
                </a:extLst>
              </a:tr>
              <a:tr h="339593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200" dirty="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0.5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0.8941</a:t>
                      </a:r>
                      <a:endParaRPr lang="en-IN" sz="220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0.8490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0.8795</a:t>
                      </a:r>
                      <a:endParaRPr lang="en-IN" sz="220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0.8610</a:t>
                      </a:r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1227646544"/>
                  </a:ext>
                </a:extLst>
              </a:tr>
              <a:tr h="339593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/>
                        <a:t>Optimizer</a:t>
                      </a:r>
                      <a:endParaRPr lang="en-IN" sz="2200" dirty="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Adam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0.9857</a:t>
                      </a:r>
                      <a:endParaRPr lang="en-IN" sz="220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0.9410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0.9310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0.9352</a:t>
                      </a:r>
                      <a:endParaRPr lang="en-IN" sz="2200"/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660340770"/>
                  </a:ext>
                </a:extLst>
              </a:tr>
              <a:tr h="339593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200" dirty="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SGD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0.8214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0.7850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0.9457</a:t>
                      </a:r>
                      <a:endParaRPr lang="en-IN" sz="220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0.7920</a:t>
                      </a:r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3360082873"/>
                  </a:ext>
                </a:extLst>
              </a:tr>
              <a:tr h="339593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200" dirty="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RMSprop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0.9125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0.8920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0.8850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0.8810</a:t>
                      </a:r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2526058144"/>
                  </a:ext>
                </a:extLst>
              </a:tr>
              <a:tr h="339593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200" dirty="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AdamW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/>
                        <a:t>0.9642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0.9552</a:t>
                      </a:r>
                      <a:endParaRPr lang="en-IN" sz="220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/>
                        <a:t>0.9240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dirty="0"/>
                        <a:t>0.9180</a:t>
                      </a:r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207582285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66E1ED8-F493-8BB3-09DA-98799983B8D1}"/>
              </a:ext>
            </a:extLst>
          </p:cNvPr>
          <p:cNvSpPr txBox="1"/>
          <p:nvPr/>
        </p:nvSpPr>
        <p:spPr>
          <a:xfrm>
            <a:off x="838200" y="110490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Hyperparameter Tuning Results</a:t>
            </a:r>
          </a:p>
        </p:txBody>
      </p:sp>
    </p:spTree>
    <p:extLst>
      <p:ext uri="{BB962C8B-B14F-4D97-AF65-F5344CB8AC3E}">
        <p14:creationId xmlns:p14="http://schemas.microsoft.com/office/powerpoint/2010/main" val="736285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EF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C7703-431C-40D0-795D-60969D9F2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C2569C7-D712-80F9-9EC8-AFF84F87E5AD}"/>
              </a:ext>
            </a:extLst>
          </p:cNvPr>
          <p:cNvSpPr/>
          <p:nvPr/>
        </p:nvSpPr>
        <p:spPr>
          <a:xfrm>
            <a:off x="0" y="0"/>
            <a:ext cx="18288000" cy="1371600"/>
          </a:xfrm>
          <a:custGeom>
            <a:avLst/>
            <a:gdLst/>
            <a:ahLst/>
            <a:cxnLst/>
            <a:rect l="l" t="t" r="r" b="b"/>
            <a:pathLst>
              <a:path w="19212993" h="10182886">
                <a:moveTo>
                  <a:pt x="0" y="0"/>
                </a:moveTo>
                <a:lnTo>
                  <a:pt x="19212993" y="0"/>
                </a:lnTo>
                <a:lnTo>
                  <a:pt x="19212993" y="10182886"/>
                </a:lnTo>
                <a:lnTo>
                  <a:pt x="0" y="10182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AF48327-9FDA-786B-FC87-90FCEC4F492A}"/>
              </a:ext>
            </a:extLst>
          </p:cNvPr>
          <p:cNvSpPr txBox="1"/>
          <p:nvPr/>
        </p:nvSpPr>
        <p:spPr>
          <a:xfrm>
            <a:off x="914400" y="320040"/>
            <a:ext cx="1645920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3400" b="1" spc="-385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0"/>
                </a:gradFill>
                <a:latin typeface="Arial"/>
                <a:ea typeface="Open Sauce Bold"/>
                <a:cs typeface="Open Sauce Bold"/>
                <a:sym typeface="Open Sauce Bold"/>
              </a:rPr>
              <a:t>Hyperparameter Tuning, Ablation Study &amp; XAI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9846F3-D204-5C43-A633-8974CD5EC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148649"/>
              </p:ext>
            </p:extLst>
          </p:nvPr>
        </p:nvGraphicFramePr>
        <p:xfrm>
          <a:off x="457200" y="2400140"/>
          <a:ext cx="16687797" cy="6781961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2383971">
                  <a:extLst>
                    <a:ext uri="{9D8B030D-6E8A-4147-A177-3AD203B41FA5}">
                      <a16:colId xmlns:a16="http://schemas.microsoft.com/office/drawing/2014/main" val="987938401"/>
                    </a:ext>
                  </a:extLst>
                </a:gridCol>
                <a:gridCol w="2383971">
                  <a:extLst>
                    <a:ext uri="{9D8B030D-6E8A-4147-A177-3AD203B41FA5}">
                      <a16:colId xmlns:a16="http://schemas.microsoft.com/office/drawing/2014/main" val="2433593055"/>
                    </a:ext>
                  </a:extLst>
                </a:gridCol>
                <a:gridCol w="2383971">
                  <a:extLst>
                    <a:ext uri="{9D8B030D-6E8A-4147-A177-3AD203B41FA5}">
                      <a16:colId xmlns:a16="http://schemas.microsoft.com/office/drawing/2014/main" val="1790110576"/>
                    </a:ext>
                  </a:extLst>
                </a:gridCol>
                <a:gridCol w="2383971">
                  <a:extLst>
                    <a:ext uri="{9D8B030D-6E8A-4147-A177-3AD203B41FA5}">
                      <a16:colId xmlns:a16="http://schemas.microsoft.com/office/drawing/2014/main" val="2939487369"/>
                    </a:ext>
                  </a:extLst>
                </a:gridCol>
                <a:gridCol w="2383971">
                  <a:extLst>
                    <a:ext uri="{9D8B030D-6E8A-4147-A177-3AD203B41FA5}">
                      <a16:colId xmlns:a16="http://schemas.microsoft.com/office/drawing/2014/main" val="703535512"/>
                    </a:ext>
                  </a:extLst>
                </a:gridCol>
                <a:gridCol w="2383971">
                  <a:extLst>
                    <a:ext uri="{9D8B030D-6E8A-4147-A177-3AD203B41FA5}">
                      <a16:colId xmlns:a16="http://schemas.microsoft.com/office/drawing/2014/main" val="2325829041"/>
                    </a:ext>
                  </a:extLst>
                </a:gridCol>
                <a:gridCol w="2383971">
                  <a:extLst>
                    <a:ext uri="{9D8B030D-6E8A-4147-A177-3AD203B41FA5}">
                      <a16:colId xmlns:a16="http://schemas.microsoft.com/office/drawing/2014/main" val="286060586"/>
                    </a:ext>
                  </a:extLst>
                </a:gridCol>
              </a:tblGrid>
              <a:tr h="14835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cap="none" spc="0" dirty="0">
                          <a:ln w="6600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</a:rPr>
                        <a:t>Model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cap="none" spc="0" dirty="0">
                          <a:ln w="6600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</a:rPr>
                        <a:t>Learning Rate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cap="none" spc="0" dirty="0">
                          <a:ln w="6600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</a:rPr>
                        <a:t>Batch Size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cap="none" spc="0" dirty="0">
                          <a:ln w="6600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</a:rPr>
                        <a:t>Epochs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cap="none" spc="0" dirty="0">
                          <a:ln w="6600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</a:rPr>
                        <a:t>Dropout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cap="none" spc="0" dirty="0">
                          <a:ln w="6600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</a:rPr>
                        <a:t>Optimizer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cap="none" spc="0" dirty="0">
                          <a:ln w="6600">
                            <a:solidFill>
                              <a:schemeClr val="accent2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dist="38100" dir="2700000" algn="tl" rotWithShape="0">
                              <a:schemeClr val="accent2"/>
                            </a:outerShdw>
                          </a:effectLst>
                        </a:rPr>
                        <a:t>Best Accuracy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361862"/>
                  </a:ext>
                </a:extLst>
              </a:tr>
              <a:tr h="14835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cap="none" spc="0" dirty="0">
                          <a:ln/>
                          <a:solidFill>
                            <a:schemeClr val="accent4"/>
                          </a:solidFill>
                          <a:effectLst/>
                        </a:rPr>
                        <a:t>EfficientNet-B0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/>
                        <a:t>1e-3</a:t>
                      </a:r>
                      <a:endParaRPr lang="en-IN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8</a:t>
                      </a:r>
                      <a:endParaRPr lang="en-IN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50</a:t>
                      </a:r>
                      <a:endParaRPr lang="en-IN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0.5</a:t>
                      </a:r>
                      <a:endParaRPr lang="en-IN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Adam</a:t>
                      </a:r>
                      <a:endParaRPr lang="en-IN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/>
                        <a:t>0.9857</a:t>
                      </a:r>
                      <a:endParaRPr lang="en-IN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8250421"/>
                  </a:ext>
                </a:extLst>
              </a:tr>
              <a:tr h="14835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cap="none" spc="0" dirty="0">
                          <a:ln/>
                          <a:solidFill>
                            <a:schemeClr val="accent4"/>
                          </a:solidFill>
                          <a:effectLst/>
                        </a:rPr>
                        <a:t>YOLOv8 Classifier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/>
                        <a:t>5e-5</a:t>
                      </a:r>
                      <a:endParaRPr lang="en-IN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16</a:t>
                      </a:r>
                      <a:endParaRPr lang="en-IN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50</a:t>
                      </a:r>
                      <a:endParaRPr lang="en-IN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0.3</a:t>
                      </a:r>
                      <a:endParaRPr lang="en-IN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AdamW</a:t>
                      </a:r>
                      <a:endParaRPr lang="en-IN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0.9552</a:t>
                      </a:r>
                      <a:endParaRPr lang="en-IN" sz="2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368411"/>
                  </a:ext>
                </a:extLst>
              </a:tr>
              <a:tr h="8477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cap="none" spc="0" dirty="0">
                          <a:ln/>
                          <a:solidFill>
                            <a:schemeClr val="accent4"/>
                          </a:solidFill>
                          <a:effectLst/>
                        </a:rPr>
                        <a:t>ResNet50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/>
                        <a:t>1e-3</a:t>
                      </a:r>
                      <a:endParaRPr lang="en-IN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32</a:t>
                      </a:r>
                      <a:endParaRPr lang="en-IN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50</a:t>
                      </a:r>
                      <a:endParaRPr lang="en-IN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0.5</a:t>
                      </a:r>
                      <a:endParaRPr lang="en-IN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SGD</a:t>
                      </a:r>
                      <a:endParaRPr lang="en-IN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0.9457</a:t>
                      </a:r>
                      <a:endParaRPr lang="en-IN" sz="2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4546658"/>
                  </a:ext>
                </a:extLst>
              </a:tr>
              <a:tr h="14835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cap="none" spc="0" dirty="0">
                          <a:ln/>
                          <a:solidFill>
                            <a:schemeClr val="accent4"/>
                          </a:solidFill>
                          <a:effectLst/>
                        </a:rPr>
                        <a:t>MobileNetV2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5e-4</a:t>
                      </a:r>
                      <a:endParaRPr lang="en-IN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32</a:t>
                      </a:r>
                      <a:endParaRPr lang="en-IN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50</a:t>
                      </a:r>
                      <a:endParaRPr lang="en-IN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0.3</a:t>
                      </a:r>
                      <a:endParaRPr lang="en-IN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/>
                        <a:t>Adam</a:t>
                      </a:r>
                      <a:endParaRPr lang="en-IN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200" b="1" dirty="0"/>
                        <a:t>0.9352</a:t>
                      </a:r>
                      <a:endParaRPr lang="en-IN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1033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032F257-C0D3-5967-DFA1-9980A09E651D}"/>
              </a:ext>
            </a:extLst>
          </p:cNvPr>
          <p:cNvSpPr txBox="1"/>
          <p:nvPr/>
        </p:nvSpPr>
        <p:spPr>
          <a:xfrm>
            <a:off x="685800" y="1558894"/>
            <a:ext cx="853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Best Hyperparameters for Each Model</a:t>
            </a:r>
          </a:p>
        </p:txBody>
      </p:sp>
    </p:spTree>
    <p:extLst>
      <p:ext uri="{BB962C8B-B14F-4D97-AF65-F5344CB8AC3E}">
        <p14:creationId xmlns:p14="http://schemas.microsoft.com/office/powerpoint/2010/main" val="1239257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EF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59220-B5C6-AA82-1C7A-2E98DA0B0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D4AB49D-1C59-3662-142E-B38351C53821}"/>
              </a:ext>
            </a:extLst>
          </p:cNvPr>
          <p:cNvSpPr/>
          <p:nvPr/>
        </p:nvSpPr>
        <p:spPr>
          <a:xfrm>
            <a:off x="0" y="0"/>
            <a:ext cx="18288000" cy="1371600"/>
          </a:xfrm>
          <a:custGeom>
            <a:avLst/>
            <a:gdLst/>
            <a:ahLst/>
            <a:cxnLst/>
            <a:rect l="l" t="t" r="r" b="b"/>
            <a:pathLst>
              <a:path w="19212993" h="10182886">
                <a:moveTo>
                  <a:pt x="0" y="0"/>
                </a:moveTo>
                <a:lnTo>
                  <a:pt x="19212993" y="0"/>
                </a:lnTo>
                <a:lnTo>
                  <a:pt x="19212993" y="10182886"/>
                </a:lnTo>
                <a:lnTo>
                  <a:pt x="0" y="10182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4C7FE06-4B02-01FD-AA3C-F85793A492DF}"/>
              </a:ext>
            </a:extLst>
          </p:cNvPr>
          <p:cNvSpPr txBox="1"/>
          <p:nvPr/>
        </p:nvSpPr>
        <p:spPr>
          <a:xfrm>
            <a:off x="914400" y="320040"/>
            <a:ext cx="1645920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3400" b="1" spc="-385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0"/>
                </a:gradFill>
                <a:latin typeface="Arial"/>
                <a:ea typeface="Open Sauce Bold"/>
                <a:cs typeface="Open Sauce Bold"/>
                <a:sym typeface="Open Sauce Bold"/>
              </a:rPr>
              <a:t>Hyperparameter Tuning, Ablation Study &amp; XAI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BF7467-E2E4-4C7C-3AE8-07FB1078E5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20390"/>
              </p:ext>
            </p:extLst>
          </p:nvPr>
        </p:nvGraphicFramePr>
        <p:xfrm>
          <a:off x="914401" y="1691640"/>
          <a:ext cx="16154399" cy="7414259"/>
        </p:xfrm>
        <a:graphic>
          <a:graphicData uri="http://schemas.openxmlformats.org/drawingml/2006/table">
            <a:tbl>
              <a:tblPr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633433">
                  <a:extLst>
                    <a:ext uri="{9D8B030D-6E8A-4147-A177-3AD203B41FA5}">
                      <a16:colId xmlns:a16="http://schemas.microsoft.com/office/drawing/2014/main" val="2626139316"/>
                    </a:ext>
                  </a:extLst>
                </a:gridCol>
                <a:gridCol w="6261396">
                  <a:extLst>
                    <a:ext uri="{9D8B030D-6E8A-4147-A177-3AD203B41FA5}">
                      <a16:colId xmlns:a16="http://schemas.microsoft.com/office/drawing/2014/main" val="3732166077"/>
                    </a:ext>
                  </a:extLst>
                </a:gridCol>
                <a:gridCol w="5259570">
                  <a:extLst>
                    <a:ext uri="{9D8B030D-6E8A-4147-A177-3AD203B41FA5}">
                      <a16:colId xmlns:a16="http://schemas.microsoft.com/office/drawing/2014/main" val="1256584500"/>
                    </a:ext>
                  </a:extLst>
                </a:gridCol>
              </a:tblGrid>
              <a:tr h="781856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b="1" dirty="0">
                          <a:solidFill>
                            <a:srgbClr val="1F1F1F"/>
                          </a:solidFill>
                          <a:effectLst/>
                        </a:rPr>
                        <a:t>Model Architecture</a:t>
                      </a:r>
                      <a:endParaRPr lang="en-IN" sz="2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b="1" dirty="0">
                          <a:solidFill>
                            <a:srgbClr val="1F1F1F"/>
                          </a:solidFill>
                          <a:effectLst/>
                        </a:rPr>
                        <a:t>Ablation Study Findings</a:t>
                      </a:r>
                      <a:endParaRPr lang="en-IN" sz="2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b="1" dirty="0">
                          <a:solidFill>
                            <a:srgbClr val="1F1F1F"/>
                          </a:solidFill>
                          <a:effectLst/>
                        </a:rPr>
                        <a:t>XAI Method &amp; Facial Focus Area</a:t>
                      </a:r>
                      <a:endParaRPr lang="en-IN" sz="2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marT="36576" marB="36576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379313"/>
                  </a:ext>
                </a:extLst>
              </a:tr>
              <a:tr h="2034507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b="1" cap="none" spc="0" dirty="0">
                          <a:ln/>
                          <a:pattFill prst="dkUpDiag">
                            <a:fgClr>
                              <a:schemeClr val="bg1">
                                <a:lumMod val="50000"/>
                              </a:schemeClr>
                            </a:fgClr>
                            <a:bgClr>
                              <a:schemeClr val="tx1">
                                <a:lumMod val="75000"/>
                                <a:lumOff val="25000"/>
                              </a:schemeClr>
                            </a:bgClr>
                          </a:pattFill>
                          <a:effectLst>
                            <a:outerShdw blurRad="38100" dist="19050" dir="2700000" algn="tl" rotWithShape="0">
                              <a:schemeClr val="dk1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EfficientNet-B0</a:t>
                      </a:r>
                    </a:p>
                    <a:p>
                      <a:pPr marL="0" marR="0" algn="ctr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b="1" cap="none" spc="0" dirty="0">
                          <a:ln/>
                          <a:pattFill prst="dkUpDiag">
                            <a:fgClr>
                              <a:schemeClr val="bg1">
                                <a:lumMod val="50000"/>
                              </a:schemeClr>
                            </a:fgClr>
                            <a:bgClr>
                              <a:schemeClr val="tx1">
                                <a:lumMod val="75000"/>
                                <a:lumOff val="25000"/>
                              </a:schemeClr>
                            </a:bgClr>
                          </a:pattFill>
                          <a:effectLst>
                            <a:outerShdw blurRad="38100" dist="19050" dir="2700000" algn="tl" rotWithShape="0">
                              <a:schemeClr val="dk1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[Champion Model]</a:t>
                      </a:r>
                      <a:endParaRPr lang="en-IN" sz="2200" b="1" cap="none" spc="0" dirty="0">
                        <a:ln/>
                        <a:pattFill prst="dkUpDiag">
                          <a:fgClr>
                            <a:schemeClr val="bg1">
                              <a:lumMod val="50000"/>
                            </a:schemeClr>
                          </a:fgClr>
                          <a:bgClr>
                            <a:schemeClr val="tx1">
                              <a:lumMod val="75000"/>
                              <a:lumOff val="25000"/>
                            </a:schemeClr>
                          </a:bgClr>
                        </a:pattFill>
                        <a:effectLst>
                          <a:outerShdw blurRad="38100" dist="19050" dir="2700000" algn="tl" rotWithShape="0">
                            <a:schemeClr val="dk1">
                              <a:lumMod val="50000"/>
                              <a:alpha val="40000"/>
                            </a:schemeClr>
                          </a:outerShdw>
                        </a:effectLst>
                        <a:latin typeface="Arial"/>
                      </a:endParaRPr>
                    </a:p>
                  </a:txBody>
                  <a:tcPr marL="73152" marR="73152" marT="36576" marB="36576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dirty="0">
                          <a:solidFill>
                            <a:srgbClr val="1F1F1F"/>
                          </a:solidFill>
                          <a:effectLst/>
                        </a:rPr>
                        <a:t>• Multi-scale fusion (block 3+3+)) boosted stability by +2.7%.</a:t>
                      </a:r>
                    </a:p>
                    <a:p>
                      <a:pPr marL="0" marR="0" algn="l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dirty="0">
                          <a:solidFill>
                            <a:srgbClr val="1F1F1F"/>
                          </a:solidFill>
                          <a:effectLst/>
                        </a:rPr>
                        <a:t>• Method: Grad CAM (</a:t>
                      </a:r>
                      <a:r>
                        <a:rPr lang="en-IN" sz="2200" dirty="0" err="1">
                          <a:solidFill>
                            <a:srgbClr val="1F1F1F"/>
                          </a:solidFill>
                          <a:effectLst/>
                        </a:rPr>
                        <a:t>top_conv</a:t>
                      </a:r>
                      <a:r>
                        <a:rPr lang="en-IN" sz="2200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</a:p>
                    <a:p>
                      <a:pPr marL="0" marR="0" algn="l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dirty="0">
                          <a:solidFill>
                            <a:srgbClr val="1F1F1F"/>
                          </a:solidFill>
                          <a:effectLst/>
                        </a:rPr>
                        <a:t>• Augmentation variance requires &gt;15 epochs for 98.57% convergence.</a:t>
                      </a:r>
                      <a:endParaRPr lang="en-IN" sz="22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dirty="0">
                          <a:solidFill>
                            <a:srgbClr val="1F1F1F"/>
                          </a:solidFill>
                          <a:effectLst/>
                        </a:rPr>
                        <a:t>• Method: Grad-CAM (</a:t>
                      </a:r>
                      <a:r>
                        <a:rPr lang="en-IN" sz="2200" dirty="0" err="1">
                          <a:solidFill>
                            <a:srgbClr val="1F1F1F"/>
                          </a:solidFill>
                          <a:effectLst/>
                        </a:rPr>
                        <a:t>top_conv</a:t>
                      </a:r>
                      <a:r>
                        <a:rPr lang="en-IN" sz="2200" dirty="0">
                          <a:solidFill>
                            <a:srgbClr val="1F1F1F"/>
                          </a:solidFill>
                          <a:effectLst/>
                        </a:rPr>
                        <a:t>) 32x32 Occlusion.</a:t>
                      </a:r>
                    </a:p>
                    <a:p>
                      <a:pPr marL="0" marR="0" algn="l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dirty="0">
                          <a:solidFill>
                            <a:srgbClr val="1F1F1F"/>
                          </a:solidFill>
                          <a:effectLst/>
                        </a:rPr>
                        <a:t>• AU12: AU12 (Mouth corners - Happy) &amp; AU4 (Eyebrow furrows - Angry/Fear).</a:t>
                      </a:r>
                      <a:endParaRPr lang="en-IN" sz="22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4005658989"/>
                  </a:ext>
                </a:extLst>
              </a:tr>
              <a:tr h="1532632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b="1" cap="none" spc="0" dirty="0">
                          <a:ln/>
                          <a:pattFill prst="dkUpDiag">
                            <a:fgClr>
                              <a:schemeClr val="bg1">
                                <a:lumMod val="50000"/>
                              </a:schemeClr>
                            </a:fgClr>
                            <a:bgClr>
                              <a:schemeClr val="tx1">
                                <a:lumMod val="75000"/>
                                <a:lumOff val="25000"/>
                              </a:schemeClr>
                            </a:bgClr>
                          </a:pattFill>
                          <a:effectLst>
                            <a:outerShdw blurRad="38100" dist="19050" dir="2700000" algn="tl" rotWithShape="0">
                              <a:schemeClr val="dk1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YOLOv8 Class</a:t>
                      </a:r>
                    </a:p>
                    <a:p>
                      <a:pPr marL="0" marR="0" algn="ctr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b="1" cap="none" spc="0" dirty="0">
                          <a:ln/>
                          <a:pattFill prst="dkUpDiag">
                            <a:fgClr>
                              <a:schemeClr val="bg1">
                                <a:lumMod val="50000"/>
                              </a:schemeClr>
                            </a:fgClr>
                            <a:bgClr>
                              <a:schemeClr val="tx1">
                                <a:lumMod val="75000"/>
                                <a:lumOff val="25000"/>
                              </a:schemeClr>
                            </a:bgClr>
                          </a:pattFill>
                          <a:effectLst>
                            <a:outerShdw blurRad="38100" dist="19050" dir="2700000" algn="tl" rotWithShape="0">
                              <a:schemeClr val="dk1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(yolov8n-cls)</a:t>
                      </a:r>
                      <a:endParaRPr lang="en-IN" sz="2200" b="1" cap="none" spc="0" dirty="0">
                        <a:ln/>
                        <a:pattFill prst="dkUpDiag">
                          <a:fgClr>
                            <a:schemeClr val="bg1">
                              <a:lumMod val="50000"/>
                            </a:schemeClr>
                          </a:fgClr>
                          <a:bgClr>
                            <a:schemeClr val="tx1">
                              <a:lumMod val="75000"/>
                              <a:lumOff val="25000"/>
                            </a:schemeClr>
                          </a:bgClr>
                        </a:pattFill>
                        <a:effectLst>
                          <a:outerShdw blurRad="38100" dist="19050" dir="2700000" algn="tl" rotWithShape="0">
                            <a:schemeClr val="dk1">
                              <a:lumMod val="50000"/>
                              <a:alpha val="40000"/>
                            </a:schemeClr>
                          </a:outerShdw>
                        </a:effectLst>
                        <a:latin typeface="Arial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dirty="0">
                          <a:solidFill>
                            <a:srgbClr val="1F1F1F"/>
                          </a:solidFill>
                          <a:effectLst/>
                        </a:rPr>
                        <a:t>• Native </a:t>
                      </a:r>
                      <a:r>
                        <a:rPr lang="en-IN" sz="2200" dirty="0" err="1">
                          <a:solidFill>
                            <a:srgbClr val="1F1F1F"/>
                          </a:solidFill>
                          <a:effectLst/>
                        </a:rPr>
                        <a:t>CSPParknet</a:t>
                      </a:r>
                      <a:r>
                        <a:rPr lang="en-IN" sz="2200" dirty="0">
                          <a:solidFill>
                            <a:srgbClr val="1F1F1F"/>
                          </a:solidFill>
                          <a:effectLst/>
                        </a:rPr>
                        <a:t> augmentations prevented gradient saturation, improving Activation Grids.</a:t>
                      </a:r>
                    </a:p>
                    <a:p>
                      <a:pPr marL="0" marR="0" algn="l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dirty="0">
                          <a:solidFill>
                            <a:srgbClr val="1F1F1F"/>
                          </a:solidFill>
                          <a:effectLst/>
                        </a:rPr>
                        <a:t>• Fast inference.</a:t>
                      </a:r>
                      <a:endParaRPr lang="en-IN" sz="22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dirty="0">
                          <a:solidFill>
                            <a:srgbClr val="1F1F1F"/>
                          </a:solidFill>
                          <a:effectLst/>
                        </a:rPr>
                        <a:t>• Focus: Sharp attention grids over eye contours, nose bridge &amp; lip curves.</a:t>
                      </a:r>
                      <a:endParaRPr lang="en-IN" sz="22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2011177184"/>
                  </a:ext>
                </a:extLst>
              </a:tr>
              <a:tr h="1532632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b="1" cap="none" spc="0" dirty="0">
                          <a:ln/>
                          <a:pattFill prst="dkUpDiag">
                            <a:fgClr>
                              <a:schemeClr val="bg1">
                                <a:lumMod val="50000"/>
                              </a:schemeClr>
                            </a:fgClr>
                            <a:bgClr>
                              <a:schemeClr val="tx1">
                                <a:lumMod val="75000"/>
                                <a:lumOff val="25000"/>
                              </a:schemeClr>
                            </a:bgClr>
                          </a:pattFill>
                          <a:effectLst>
                            <a:outerShdw blurRad="38100" dist="19050" dir="2700000" algn="tl" rotWithShape="0">
                              <a:schemeClr val="dk1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ResNet-50</a:t>
                      </a:r>
                    </a:p>
                    <a:p>
                      <a:pPr marL="0" marR="0" algn="ctr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b="1" cap="none" spc="0" dirty="0">
                          <a:ln/>
                          <a:pattFill prst="dkUpDiag">
                            <a:fgClr>
                              <a:schemeClr val="bg1">
                                <a:lumMod val="50000"/>
                              </a:schemeClr>
                            </a:fgClr>
                            <a:bgClr>
                              <a:schemeClr val="tx1">
                                <a:lumMod val="75000"/>
                                <a:lumOff val="25000"/>
                              </a:schemeClr>
                            </a:bgClr>
                          </a:pattFill>
                          <a:effectLst>
                            <a:outerShdw blurRad="38100" dist="19050" dir="2700000" algn="tl" rotWithShape="0">
                              <a:schemeClr val="dk1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(Deep Residual)</a:t>
                      </a:r>
                      <a:endParaRPr lang="en-IN" sz="2200" b="1" cap="none" spc="0" dirty="0">
                        <a:ln/>
                        <a:pattFill prst="dkUpDiag">
                          <a:fgClr>
                            <a:schemeClr val="bg1">
                              <a:lumMod val="50000"/>
                            </a:schemeClr>
                          </a:fgClr>
                          <a:bgClr>
                            <a:schemeClr val="tx1">
                              <a:lumMod val="75000"/>
                              <a:lumOff val="25000"/>
                            </a:schemeClr>
                          </a:bgClr>
                        </a:pattFill>
                        <a:effectLst>
                          <a:outerShdw blurRad="38100" dist="19050" dir="2700000" algn="tl" rotWithShape="0">
                            <a:schemeClr val="dk1">
                              <a:lumMod val="50000"/>
                              <a:alpha val="40000"/>
                            </a:schemeClr>
                          </a:outerShdw>
                        </a:effectLst>
                        <a:latin typeface="Arial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dirty="0">
                          <a:solidFill>
                            <a:srgbClr val="1F1F1F"/>
                          </a:solidFill>
                          <a:effectLst/>
                        </a:rPr>
                        <a:t>• Data augmentations essential for deep residual skip-connections to prevent gradient vanishing.</a:t>
                      </a:r>
                    </a:p>
                    <a:p>
                      <a:pPr marL="0" marR="0" algn="l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dirty="0">
                          <a:solidFill>
                            <a:srgbClr val="1F1F1F"/>
                          </a:solidFill>
                          <a:effectLst/>
                        </a:rPr>
                        <a:t>• Solved gradient decay.</a:t>
                      </a:r>
                      <a:endParaRPr lang="en-IN" sz="22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dirty="0">
                          <a:solidFill>
                            <a:srgbClr val="1F1F1F"/>
                          </a:solidFill>
                          <a:effectLst/>
                        </a:rPr>
                        <a:t>• Focus: Central facial triangle (brow ridge, eyes, upper lip), ignoring background.</a:t>
                      </a:r>
                      <a:endParaRPr lang="en-IN" sz="22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3286643656"/>
                  </a:ext>
                </a:extLst>
              </a:tr>
              <a:tr h="1532632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b="1" cap="none" spc="0" dirty="0">
                          <a:ln/>
                          <a:pattFill prst="dkUpDiag">
                            <a:fgClr>
                              <a:schemeClr val="bg1">
                                <a:lumMod val="50000"/>
                              </a:schemeClr>
                            </a:fgClr>
                            <a:bgClr>
                              <a:schemeClr val="tx1">
                                <a:lumMod val="75000"/>
                                <a:lumOff val="25000"/>
                              </a:schemeClr>
                            </a:bgClr>
                          </a:pattFill>
                          <a:effectLst>
                            <a:outerShdw blurRad="38100" dist="19050" dir="2700000" algn="tl" rotWithShape="0">
                              <a:schemeClr val="dk1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MobileNetV2</a:t>
                      </a:r>
                    </a:p>
                    <a:p>
                      <a:pPr marL="0" marR="0" algn="ctr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b="1" cap="none" spc="0" dirty="0">
                          <a:ln/>
                          <a:pattFill prst="dkUpDiag">
                            <a:fgClr>
                              <a:schemeClr val="bg1">
                                <a:lumMod val="50000"/>
                              </a:schemeClr>
                            </a:fgClr>
                            <a:bgClr>
                              <a:schemeClr val="tx1">
                                <a:lumMod val="75000"/>
                                <a:lumOff val="25000"/>
                              </a:schemeClr>
                            </a:bgClr>
                          </a:pattFill>
                          <a:effectLst>
                            <a:outerShdw blurRad="38100" dist="19050" dir="2700000" algn="tl" rotWithShape="0">
                              <a:schemeClr val="dk1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(Edge Optimized)</a:t>
                      </a:r>
                      <a:endParaRPr lang="en-IN" sz="2200" b="1" cap="none" spc="0" dirty="0">
                        <a:ln/>
                        <a:pattFill prst="dkUpDiag">
                          <a:fgClr>
                            <a:schemeClr val="bg1">
                              <a:lumMod val="50000"/>
                            </a:schemeClr>
                          </a:fgClr>
                          <a:bgClr>
                            <a:schemeClr val="tx1">
                              <a:lumMod val="75000"/>
                              <a:lumOff val="25000"/>
                            </a:schemeClr>
                          </a:bgClr>
                        </a:pattFill>
                        <a:effectLst>
                          <a:outerShdw blurRad="38100" dist="19050" dir="2700000" algn="tl" rotWithShape="0">
                            <a:schemeClr val="dk1">
                              <a:lumMod val="50000"/>
                              <a:alpha val="40000"/>
                            </a:schemeClr>
                          </a:outerShdw>
                        </a:effectLst>
                        <a:latin typeface="Arial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dirty="0">
                          <a:solidFill>
                            <a:srgbClr val="1F1F1F"/>
                          </a:solidFill>
                          <a:effectLst/>
                        </a:rPr>
                        <a:t>• </a:t>
                      </a:r>
                      <a:r>
                        <a:rPr lang="en-IN" sz="2200" dirty="0" err="1">
                          <a:solidFill>
                            <a:srgbClr val="1F1F1F"/>
                          </a:solidFill>
                          <a:effectLst/>
                        </a:rPr>
                        <a:t>Depthwise</a:t>
                      </a:r>
                      <a:r>
                        <a:rPr lang="en-IN" sz="2200" dirty="0">
                          <a:solidFill>
                            <a:srgbClr val="1F1F1F"/>
                          </a:solidFill>
                          <a:effectLst/>
                        </a:rPr>
                        <a:t> separable channels require full augmentation to improve model convergence.</a:t>
                      </a:r>
                    </a:p>
                    <a:p>
                      <a:pPr marL="0" marR="0" algn="l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dirty="0">
                          <a:solidFill>
                            <a:srgbClr val="1F1F1F"/>
                          </a:solidFill>
                          <a:effectLst/>
                        </a:rPr>
                        <a:t>• Low parameter footprint.</a:t>
                      </a:r>
                      <a:endParaRPr lang="en-IN" sz="22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10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2200" dirty="0">
                          <a:solidFill>
                            <a:srgbClr val="1F1F1F"/>
                          </a:solidFill>
                          <a:effectLst/>
                        </a:rPr>
                        <a:t>• Focus: Eye contours &amp; mouth shape; verified for Floating-Point &amp; Lite quantization.</a:t>
                      </a:r>
                      <a:endParaRPr lang="en-IN" sz="22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2823059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167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EF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2E293A-2A23-28A5-85FF-E4BCCEDC8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CB00821-0AFA-33EF-70E4-DEBC61FFFE43}"/>
              </a:ext>
            </a:extLst>
          </p:cNvPr>
          <p:cNvSpPr/>
          <p:nvPr/>
        </p:nvSpPr>
        <p:spPr>
          <a:xfrm>
            <a:off x="0" y="0"/>
            <a:ext cx="18288000" cy="1371600"/>
          </a:xfrm>
          <a:custGeom>
            <a:avLst/>
            <a:gdLst/>
            <a:ahLst/>
            <a:cxnLst/>
            <a:rect l="l" t="t" r="r" b="b"/>
            <a:pathLst>
              <a:path w="19212993" h="10182886">
                <a:moveTo>
                  <a:pt x="0" y="0"/>
                </a:moveTo>
                <a:lnTo>
                  <a:pt x="19212993" y="0"/>
                </a:lnTo>
                <a:lnTo>
                  <a:pt x="19212993" y="10182886"/>
                </a:lnTo>
                <a:lnTo>
                  <a:pt x="0" y="10182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03568FE-B1DF-D731-29DF-DFF8FC5F2B1B}"/>
              </a:ext>
            </a:extLst>
          </p:cNvPr>
          <p:cNvSpPr txBox="1"/>
          <p:nvPr/>
        </p:nvSpPr>
        <p:spPr>
          <a:xfrm>
            <a:off x="914400" y="320040"/>
            <a:ext cx="1645920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3400" b="1" spc="-385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0"/>
                </a:gradFill>
                <a:latin typeface="Arial"/>
                <a:ea typeface="Open Sauce Bold"/>
                <a:cs typeface="Open Sauce Bold"/>
                <a:sym typeface="Open Sauce Bold"/>
              </a:rPr>
              <a:t>Hyperparameter Tuning, Ablation Study &amp; XAI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9F9DDF-2AC2-7D8E-37A3-722587D3A38A}"/>
              </a:ext>
            </a:extLst>
          </p:cNvPr>
          <p:cNvSpPr txBox="1"/>
          <p:nvPr/>
        </p:nvSpPr>
        <p:spPr>
          <a:xfrm>
            <a:off x="381000" y="1235114"/>
            <a:ext cx="5326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Explainable Artificial Intelligence(XAI) Output:-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15D74D-82A6-2CA3-ED75-D8C4D78151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839" y="2161243"/>
            <a:ext cx="4329286" cy="7810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18A6AC-8F1D-F625-DF04-B0AFFDAF32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383" y="2008845"/>
            <a:ext cx="3216027" cy="8115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75E182-0BC8-5E31-9EE4-4BDE1E3CA80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668" y="2008846"/>
            <a:ext cx="3216026" cy="81152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C9B7E21-0175-A65A-6D62-3CDCB230A01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9935" y="2008845"/>
            <a:ext cx="3216026" cy="811529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0416947-D33B-CC8E-B6D4-5605BAC261EE}"/>
              </a:ext>
            </a:extLst>
          </p:cNvPr>
          <p:cNvSpPr txBox="1"/>
          <p:nvPr/>
        </p:nvSpPr>
        <p:spPr>
          <a:xfrm>
            <a:off x="2274674" y="1779997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EfficientNet-B0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F4AB0D-3918-848E-D1F4-9B403C9928FC}"/>
              </a:ext>
            </a:extLst>
          </p:cNvPr>
          <p:cNvSpPr txBox="1"/>
          <p:nvPr/>
        </p:nvSpPr>
        <p:spPr>
          <a:xfrm>
            <a:off x="14478000" y="1435169"/>
            <a:ext cx="289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i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WPC"/>
              </a:rPr>
              <a:t>MobileNetV2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CA84CD-C1AE-9D14-CDD3-B72510AF2FA2}"/>
              </a:ext>
            </a:extLst>
          </p:cNvPr>
          <p:cNvSpPr txBox="1"/>
          <p:nvPr/>
        </p:nvSpPr>
        <p:spPr>
          <a:xfrm>
            <a:off x="11353800" y="1450558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i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WPC"/>
              </a:rPr>
              <a:t>YOLOv8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C88FB5-D440-783B-4890-6031878B23C4}"/>
              </a:ext>
            </a:extLst>
          </p:cNvPr>
          <p:cNvSpPr txBox="1"/>
          <p:nvPr/>
        </p:nvSpPr>
        <p:spPr>
          <a:xfrm>
            <a:off x="7086600" y="1529516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i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WPC"/>
              </a:rPr>
              <a:t>ResNet50 </a:t>
            </a:r>
          </a:p>
        </p:txBody>
      </p:sp>
    </p:spTree>
    <p:extLst>
      <p:ext uri="{BB962C8B-B14F-4D97-AF65-F5344CB8AC3E}">
        <p14:creationId xmlns:p14="http://schemas.microsoft.com/office/powerpoint/2010/main" val="1791093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E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371600"/>
          </a:xfrm>
          <a:custGeom>
            <a:avLst/>
            <a:gdLst/>
            <a:ahLst/>
            <a:cxnLst/>
            <a:rect l="l" t="t" r="r" b="b"/>
            <a:pathLst>
              <a:path w="19212993" h="10182886">
                <a:moveTo>
                  <a:pt x="0" y="0"/>
                </a:moveTo>
                <a:lnTo>
                  <a:pt x="19212993" y="0"/>
                </a:lnTo>
                <a:lnTo>
                  <a:pt x="19212993" y="10182886"/>
                </a:lnTo>
                <a:lnTo>
                  <a:pt x="0" y="10182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914400" y="320040"/>
            <a:ext cx="1645920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3400" b="1" spc="-385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0"/>
                </a:gradFill>
                <a:latin typeface="Arial"/>
                <a:ea typeface="Open Sauce Bold"/>
                <a:cs typeface="Open Sauce Bold"/>
                <a:sym typeface="Open Sauce Bold"/>
              </a:rPr>
              <a:t>Results and Discussion [</a:t>
            </a:r>
            <a:r>
              <a:rPr lang="en-US" sz="3400" b="1" spc="-385" dirty="0" err="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0"/>
                </a:gradFill>
                <a:latin typeface="Arial"/>
                <a:ea typeface="Open Sauce Bold"/>
                <a:cs typeface="Open Sauce Bold"/>
                <a:sym typeface="Open Sauce Bold"/>
              </a:rPr>
              <a:t>EfficientNet</a:t>
            </a:r>
            <a:r>
              <a:rPr lang="en-US" sz="3400" b="1" spc="-385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0"/>
                </a:gradFill>
                <a:latin typeface="Arial"/>
                <a:ea typeface="Open Sauce Bold"/>
                <a:cs typeface="Open Sauce Bold"/>
                <a:sym typeface="Open Sauce Bold"/>
              </a:rPr>
              <a:t> B0]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8B681F-2C71-04E3-053B-5F9141AAD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92736"/>
              </p:ext>
            </p:extLst>
          </p:nvPr>
        </p:nvGraphicFramePr>
        <p:xfrm>
          <a:off x="914401" y="1737360"/>
          <a:ext cx="16002001" cy="744473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56001">
                  <a:extLst>
                    <a:ext uri="{9D8B030D-6E8A-4147-A177-3AD203B41FA5}">
                      <a16:colId xmlns:a16="http://schemas.microsoft.com/office/drawing/2014/main" val="324951757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302797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549112146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57419804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42931823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12622608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6868527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380585333"/>
                    </a:ext>
                  </a:extLst>
                </a:gridCol>
              </a:tblGrid>
              <a:tr h="741055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 dirty="0"/>
                        <a:t>Developmental Stage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 dirty="0"/>
                        <a:t>Accuracy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 dirty="0"/>
                        <a:t>Precision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 dirty="0"/>
                        <a:t>Recall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 dirty="0"/>
                        <a:t>F1 Score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 dirty="0"/>
                        <a:t>Specificity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 dirty="0"/>
                        <a:t>Kappa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 dirty="0"/>
                        <a:t>AUC ROC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077454"/>
                  </a:ext>
                </a:extLst>
              </a:tr>
              <a:tr h="1554419">
                <a:tc>
                  <a:txBody>
                    <a:bodyPr/>
                    <a:lstStyle/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1" dirty="0">
                          <a:solidFill>
                            <a:srgbClr val="1F1F1F"/>
                          </a:solidFill>
                          <a:effectLst/>
                        </a:rPr>
                        <a:t>1. Base Model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(Phase 1 Baseline)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41.59%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0.4215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0.4159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0.4182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0.8912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0.2541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0.7124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2509118493"/>
                  </a:ext>
                </a:extLst>
              </a:tr>
              <a:tr h="1707648">
                <a:tc>
                  <a:txBody>
                    <a:bodyPr/>
                    <a:lstStyle/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1" dirty="0">
                          <a:solidFill>
                            <a:srgbClr val="1F1F1F"/>
                          </a:solidFill>
                          <a:effectLst/>
                        </a:rPr>
                        <a:t>2. Hyperparameter Tuning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(Phase 3 Grid Search)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1" dirty="0">
                          <a:solidFill>
                            <a:srgbClr val="1F1F1F"/>
                          </a:solidFill>
                          <a:effectLst/>
                        </a:rPr>
                        <a:t>98.57%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0.9041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0.8841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0.8941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0.9650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0.8750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0.8970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3661416350"/>
                  </a:ext>
                </a:extLst>
              </a:tr>
              <a:tr h="1707648">
                <a:tc>
                  <a:txBody>
                    <a:bodyPr/>
                    <a:lstStyle/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1" dirty="0">
                          <a:solidFill>
                            <a:srgbClr val="1F1F1F"/>
                          </a:solidFill>
                          <a:effectLst/>
                        </a:rPr>
                        <a:t>3. XAI Verified Champion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(Phase 4 Final Model)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0.9887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0.9859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0.9857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0.9857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0.9976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0.9833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0.9984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3774163056"/>
                  </a:ext>
                </a:extLst>
              </a:tr>
              <a:tr h="1733968">
                <a:tc>
                  <a:txBody>
                    <a:bodyPr/>
                    <a:lstStyle/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1" dirty="0">
                          <a:solidFill>
                            <a:srgbClr val="1F1F1F"/>
                          </a:solidFill>
                          <a:effectLst/>
                        </a:rPr>
                        <a:t>4. Ablation Study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(Phase 5 Augment &amp; Fusion)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45.64%*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98.57%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0.4610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0.9859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0.4564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0.9857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0.4586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0.9857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0.9015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0.9976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0.2980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0.9833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0.7410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 dirty="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0.9984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9329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4531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9E63B-5018-A461-DD3A-3B2808D0C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E51BF63-0F91-EE77-A2B0-8E725B246E53}"/>
              </a:ext>
            </a:extLst>
          </p:cNvPr>
          <p:cNvSpPr/>
          <p:nvPr/>
        </p:nvSpPr>
        <p:spPr>
          <a:xfrm>
            <a:off x="0" y="0"/>
            <a:ext cx="18288000" cy="1371600"/>
          </a:xfrm>
          <a:custGeom>
            <a:avLst/>
            <a:gdLst/>
            <a:ahLst/>
            <a:cxnLst/>
            <a:rect l="l" t="t" r="r" b="b"/>
            <a:pathLst>
              <a:path w="19212993" h="10182886">
                <a:moveTo>
                  <a:pt x="0" y="0"/>
                </a:moveTo>
                <a:lnTo>
                  <a:pt x="19212993" y="0"/>
                </a:lnTo>
                <a:lnTo>
                  <a:pt x="19212993" y="10182886"/>
                </a:lnTo>
                <a:lnTo>
                  <a:pt x="0" y="10182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7A47189-70F7-679B-401F-4A54DCAE0482}"/>
              </a:ext>
            </a:extLst>
          </p:cNvPr>
          <p:cNvSpPr txBox="1"/>
          <p:nvPr/>
        </p:nvSpPr>
        <p:spPr>
          <a:xfrm>
            <a:off x="914400" y="320040"/>
            <a:ext cx="1645920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3400" b="1" spc="-385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0"/>
                </a:gradFill>
                <a:latin typeface="Arial"/>
                <a:ea typeface="Open Sauce Bold"/>
                <a:cs typeface="Open Sauce Bold"/>
                <a:sym typeface="Open Sauce Bold"/>
              </a:rPr>
              <a:t>Results and Discussion [</a:t>
            </a:r>
            <a:r>
              <a:rPr lang="en-US" sz="3400" b="1" spc="-385" dirty="0" err="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0"/>
                </a:gradFill>
                <a:latin typeface="Arial"/>
                <a:ea typeface="Open Sauce Bold"/>
                <a:cs typeface="Open Sauce Bold"/>
                <a:sym typeface="Open Sauce Bold"/>
              </a:rPr>
              <a:t>EfficientNet</a:t>
            </a:r>
            <a:r>
              <a:rPr lang="en-US" sz="3400" b="1" spc="-385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0"/>
                </a:gradFill>
                <a:latin typeface="Arial"/>
                <a:ea typeface="Open Sauce Bold"/>
                <a:cs typeface="Open Sauce Bold"/>
                <a:sym typeface="Open Sauce Bold"/>
              </a:rPr>
              <a:t> B0]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A882CE-CEE8-BC27-E802-E08E909CD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369586"/>
            <a:ext cx="9448800" cy="67591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19B2E5-59D1-4FF7-AA93-93CBCA7538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1" y="2369587"/>
            <a:ext cx="8534398" cy="683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92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E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371600"/>
          </a:xfrm>
          <a:custGeom>
            <a:avLst/>
            <a:gdLst/>
            <a:ahLst/>
            <a:cxnLst/>
            <a:rect l="l" t="t" r="r" b="b"/>
            <a:pathLst>
              <a:path w="19212993" h="10182886">
                <a:moveTo>
                  <a:pt x="0" y="0"/>
                </a:moveTo>
                <a:lnTo>
                  <a:pt x="19212993" y="0"/>
                </a:lnTo>
                <a:lnTo>
                  <a:pt x="19212993" y="10182886"/>
                </a:lnTo>
                <a:lnTo>
                  <a:pt x="0" y="10182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914400" y="320040"/>
            <a:ext cx="1645920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3400" b="1" spc="-385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0"/>
                </a:gradFill>
                <a:latin typeface="Arial"/>
                <a:ea typeface="Open Sauce Bold"/>
                <a:cs typeface="Open Sauce Bold"/>
                <a:sym typeface="Open Sauce Bold"/>
              </a:rPr>
              <a:t>Results and Discussion [ResNet-50]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8813B8-6ECB-2180-1A69-37C32CBEE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639534"/>
              </p:ext>
            </p:extLst>
          </p:nvPr>
        </p:nvGraphicFramePr>
        <p:xfrm>
          <a:off x="914400" y="1737361"/>
          <a:ext cx="15773401" cy="790193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1">
                  <a:extLst>
                    <a:ext uri="{9D8B030D-6E8A-4147-A177-3AD203B41FA5}">
                      <a16:colId xmlns:a16="http://schemas.microsoft.com/office/drawing/2014/main" val="304619772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2274573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1095852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4352075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0522333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4745935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26826773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794750594"/>
                    </a:ext>
                  </a:extLst>
                </a:gridCol>
              </a:tblGrid>
              <a:tr h="677511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 dirty="0"/>
                        <a:t>Developmental Stage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 dirty="0"/>
                        <a:t>Accuracy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 dirty="0"/>
                        <a:t>Precision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 dirty="0"/>
                        <a:t>Recall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/>
                        <a:t>F1 Score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/>
                        <a:t>Specificity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/>
                        <a:t>Kappa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 dirty="0"/>
                        <a:t>AUC ROC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27961"/>
                  </a:ext>
                </a:extLst>
              </a:tr>
              <a:tr h="1498308">
                <a:tc>
                  <a:txBody>
                    <a:bodyPr/>
                    <a:lstStyle/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1" dirty="0">
                          <a:solidFill>
                            <a:srgbClr val="1F1F1F"/>
                          </a:solidFill>
                          <a:effectLst/>
                        </a:rPr>
                        <a:t>1. Base Model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(Phase 1 Baseline)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41.92%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0.4251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0.4192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0.4215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0.8924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0.2582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0.7156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4201660522"/>
                  </a:ext>
                </a:extLst>
              </a:tr>
              <a:tr h="2003077">
                <a:tc>
                  <a:txBody>
                    <a:bodyPr/>
                    <a:lstStyle/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1" dirty="0">
                          <a:solidFill>
                            <a:srgbClr val="1F1F1F"/>
                          </a:solidFill>
                          <a:effectLst/>
                        </a:rPr>
                        <a:t>2. Hyperparameter Tuning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 dirty="0">
                          <a:solidFill>
                            <a:srgbClr val="1F1F1F"/>
                          </a:solidFill>
                          <a:effectLst/>
                        </a:rPr>
                      </a:b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(Phase 3 Grid Search)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1" dirty="0">
                          <a:solidFill>
                            <a:srgbClr val="1F1F1F"/>
                          </a:solidFill>
                          <a:effectLst/>
                        </a:rPr>
                        <a:t>94.57%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0.8895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0.8695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0.8795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0.9620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0.8590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0.9191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3232416583"/>
                  </a:ext>
                </a:extLst>
              </a:tr>
              <a:tr h="1805501">
                <a:tc>
                  <a:txBody>
                    <a:bodyPr/>
                    <a:lstStyle/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1" dirty="0">
                          <a:solidFill>
                            <a:srgbClr val="1F1F1F"/>
                          </a:solidFill>
                          <a:effectLst/>
                        </a:rPr>
                        <a:t>3. XAI Verified Champion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(Phase 4 Final Model)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0.9478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0.9462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0.9457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0.9458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0.9910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0.9367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0.9825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2365195685"/>
                  </a:ext>
                </a:extLst>
              </a:tr>
              <a:tr h="1917542">
                <a:tc>
                  <a:txBody>
                    <a:bodyPr/>
                    <a:lstStyle/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1" dirty="0">
                          <a:solidFill>
                            <a:srgbClr val="1F1F1F"/>
                          </a:solidFill>
                          <a:effectLst/>
                        </a:rPr>
                        <a:t>4. Ablation Study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(Phase 5 Augment &amp; Residuals)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46.51%*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94.57%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0.4710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0.9462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0.4651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0.9457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0.4680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0.9458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0.9025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0.9910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0.3080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0.9367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0.7450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 dirty="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0.9825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3561890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0902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FC2CA-970B-FCA2-6F9C-BDD2E837A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63EBE37-8957-9685-C47C-499F059332B7}"/>
              </a:ext>
            </a:extLst>
          </p:cNvPr>
          <p:cNvSpPr/>
          <p:nvPr/>
        </p:nvSpPr>
        <p:spPr>
          <a:xfrm>
            <a:off x="0" y="0"/>
            <a:ext cx="18288000" cy="1371600"/>
          </a:xfrm>
          <a:custGeom>
            <a:avLst/>
            <a:gdLst/>
            <a:ahLst/>
            <a:cxnLst/>
            <a:rect l="l" t="t" r="r" b="b"/>
            <a:pathLst>
              <a:path w="19212993" h="10182886">
                <a:moveTo>
                  <a:pt x="0" y="0"/>
                </a:moveTo>
                <a:lnTo>
                  <a:pt x="19212993" y="0"/>
                </a:lnTo>
                <a:lnTo>
                  <a:pt x="19212993" y="10182886"/>
                </a:lnTo>
                <a:lnTo>
                  <a:pt x="0" y="10182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3AE6C71-8F46-4984-5459-65D216CB2E55}"/>
              </a:ext>
            </a:extLst>
          </p:cNvPr>
          <p:cNvSpPr txBox="1"/>
          <p:nvPr/>
        </p:nvSpPr>
        <p:spPr>
          <a:xfrm>
            <a:off x="914400" y="320040"/>
            <a:ext cx="16459200" cy="695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25"/>
              </a:lnSpc>
            </a:pPr>
            <a:r>
              <a:rPr lang="en-US" sz="3400" b="1" spc="-385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0"/>
                </a:gradFill>
                <a:latin typeface="Arial"/>
                <a:ea typeface="Open Sauce Bold"/>
                <a:cs typeface="Open Sauce Bold"/>
                <a:sym typeface="Open Sauce Bold"/>
              </a:rPr>
              <a:t>Results and Discussion [ResNet-50]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6C54E8-2432-AE5A-ACBF-951B76BC3C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43100"/>
            <a:ext cx="8859672" cy="7010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FCA1C9-8361-CFB0-7D2C-FFDACDC69C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0" y="2171700"/>
            <a:ext cx="9294584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112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E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371600"/>
          </a:xfrm>
          <a:custGeom>
            <a:avLst/>
            <a:gdLst/>
            <a:ahLst/>
            <a:cxnLst/>
            <a:rect l="l" t="t" r="r" b="b"/>
            <a:pathLst>
              <a:path w="19212993" h="10182886">
                <a:moveTo>
                  <a:pt x="0" y="0"/>
                </a:moveTo>
                <a:lnTo>
                  <a:pt x="19212993" y="0"/>
                </a:lnTo>
                <a:lnTo>
                  <a:pt x="19212993" y="10182886"/>
                </a:lnTo>
                <a:lnTo>
                  <a:pt x="0" y="10182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914400" y="320040"/>
            <a:ext cx="1645920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3400" b="1" spc="-385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0"/>
                </a:gradFill>
                <a:latin typeface="Arial"/>
                <a:ea typeface="Open Sauce Bold"/>
                <a:cs typeface="Open Sauce Bold"/>
                <a:sym typeface="Open Sauce Bold"/>
              </a:rPr>
              <a:t>Results and Discussion [YOLOv8]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59824E-E078-80A5-7886-C5D7091DC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469082"/>
              </p:ext>
            </p:extLst>
          </p:nvPr>
        </p:nvGraphicFramePr>
        <p:xfrm>
          <a:off x="914400" y="1737361"/>
          <a:ext cx="15773397" cy="721614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505197">
                  <a:extLst>
                    <a:ext uri="{9D8B030D-6E8A-4147-A177-3AD203B41FA5}">
                      <a16:colId xmlns:a16="http://schemas.microsoft.com/office/drawing/2014/main" val="162797078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8008442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29349004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9529401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31825945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71386577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50063950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07806405"/>
                    </a:ext>
                  </a:extLst>
                </a:gridCol>
              </a:tblGrid>
              <a:tr h="690942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 dirty="0"/>
                        <a:t>Developmental Stage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 dirty="0"/>
                        <a:t>Accuracy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 dirty="0"/>
                        <a:t>Precision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 dirty="0"/>
                        <a:t>Recall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 dirty="0"/>
                        <a:t>F1 Score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 dirty="0"/>
                        <a:t>Specificity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 dirty="0"/>
                        <a:t>Kappa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 dirty="0"/>
                        <a:t>AUC ROC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369088"/>
                  </a:ext>
                </a:extLst>
              </a:tr>
              <a:tr h="1339924">
                <a:tc>
                  <a:txBody>
                    <a:bodyPr/>
                    <a:lstStyle/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1" dirty="0">
                          <a:solidFill>
                            <a:srgbClr val="1F1F1F"/>
                          </a:solidFill>
                          <a:effectLst/>
                        </a:rPr>
                        <a:t>1. Base Model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(Phase 1 Baseline)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32.95%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0.3412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0.3295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0.3321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0.8842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0.1845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0.6542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812111370"/>
                  </a:ext>
                </a:extLst>
              </a:tr>
              <a:tr h="1892580">
                <a:tc>
                  <a:txBody>
                    <a:bodyPr/>
                    <a:lstStyle/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1" dirty="0">
                          <a:solidFill>
                            <a:srgbClr val="1F1F1F"/>
                          </a:solidFill>
                          <a:effectLst/>
                        </a:rPr>
                        <a:t>2. Hyperparameter Tuning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(Phase 3 Grid Search)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1" dirty="0">
                          <a:solidFill>
                            <a:srgbClr val="1F1F1F"/>
                          </a:solidFill>
                          <a:effectLst/>
                        </a:rPr>
                        <a:t>95.52%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0.9526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0.9326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0.9426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0.9850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0.9310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0.9516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4254062132"/>
                  </a:ext>
                </a:extLst>
              </a:tr>
              <a:tr h="1592171">
                <a:tc>
                  <a:txBody>
                    <a:bodyPr/>
                    <a:lstStyle/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1" dirty="0">
                          <a:solidFill>
                            <a:srgbClr val="1F1F1F"/>
                          </a:solidFill>
                          <a:effectLst/>
                        </a:rPr>
                        <a:t>3. XAI Verified Champion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(Phase 4 Final Model)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0.9553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0.9553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0.9552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0.9552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0.9925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0.9478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0.9900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201552014"/>
                  </a:ext>
                </a:extLst>
              </a:tr>
              <a:tr h="1700523">
                <a:tc>
                  <a:txBody>
                    <a:bodyPr/>
                    <a:lstStyle/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1" dirty="0">
                          <a:solidFill>
                            <a:srgbClr val="1F1F1F"/>
                          </a:solidFill>
                          <a:effectLst/>
                        </a:rPr>
                        <a:t>4. Ablation Study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(Phase 5 Augment Study)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32.95%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95.52%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0.3412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0.9553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0.3295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0.9552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0.3321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0.9552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0.8842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0.9925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0.1845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0.9478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0.6542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 dirty="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0.9900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2087446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8002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1D745-33B1-02AF-7BFE-47F288767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3D5A95A-22CA-0940-581C-2506A8DC2C3F}"/>
              </a:ext>
            </a:extLst>
          </p:cNvPr>
          <p:cNvSpPr/>
          <p:nvPr/>
        </p:nvSpPr>
        <p:spPr>
          <a:xfrm>
            <a:off x="0" y="0"/>
            <a:ext cx="18288000" cy="1371600"/>
          </a:xfrm>
          <a:custGeom>
            <a:avLst/>
            <a:gdLst/>
            <a:ahLst/>
            <a:cxnLst/>
            <a:rect l="l" t="t" r="r" b="b"/>
            <a:pathLst>
              <a:path w="19212993" h="10182886">
                <a:moveTo>
                  <a:pt x="0" y="0"/>
                </a:moveTo>
                <a:lnTo>
                  <a:pt x="19212993" y="0"/>
                </a:lnTo>
                <a:lnTo>
                  <a:pt x="19212993" y="10182886"/>
                </a:lnTo>
                <a:lnTo>
                  <a:pt x="0" y="10182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D96D3C6-A871-7395-756A-D540ED2F8872}"/>
              </a:ext>
            </a:extLst>
          </p:cNvPr>
          <p:cNvSpPr txBox="1"/>
          <p:nvPr/>
        </p:nvSpPr>
        <p:spPr>
          <a:xfrm>
            <a:off x="914400" y="320040"/>
            <a:ext cx="16459200" cy="695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25"/>
              </a:lnSpc>
            </a:pPr>
            <a:r>
              <a:rPr lang="en-US" sz="3400" b="1" spc="-385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0"/>
                </a:gradFill>
                <a:latin typeface="Arial"/>
                <a:ea typeface="Open Sauce Bold"/>
                <a:cs typeface="Open Sauce Bold"/>
                <a:sym typeface="Open Sauce Bold"/>
              </a:rPr>
              <a:t>Results and Discussion [YOLOv8]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3E39D-76FC-0CDA-F4BF-3DA38E5451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6024"/>
            <a:ext cx="8358116" cy="6934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1D946E-180A-69E1-BCB7-5737A2A8DC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199" y="2286024"/>
            <a:ext cx="9784775" cy="666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53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E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371600"/>
          </a:xfrm>
          <a:custGeom>
            <a:avLst/>
            <a:gdLst/>
            <a:ahLst/>
            <a:cxnLst/>
            <a:rect l="l" t="t" r="r" b="b"/>
            <a:pathLst>
              <a:path w="19212993" h="10182886">
                <a:moveTo>
                  <a:pt x="0" y="0"/>
                </a:moveTo>
                <a:lnTo>
                  <a:pt x="19212993" y="0"/>
                </a:lnTo>
                <a:lnTo>
                  <a:pt x="19212993" y="10182886"/>
                </a:lnTo>
                <a:lnTo>
                  <a:pt x="0" y="10182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914400" y="320040"/>
            <a:ext cx="1645920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3400" b="1" spc="-385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0"/>
                </a:gradFill>
                <a:latin typeface="Arial"/>
                <a:ea typeface="Open Sauce Bold"/>
                <a:cs typeface="Open Sauce Bold"/>
                <a:sym typeface="Open Sauce Bold"/>
              </a:rPr>
              <a:t>Results and Discussion [MobileNetv2]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1D492A-50D7-385E-D664-31C4FA5F7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227660"/>
              </p:ext>
            </p:extLst>
          </p:nvPr>
        </p:nvGraphicFramePr>
        <p:xfrm>
          <a:off x="914400" y="1737360"/>
          <a:ext cx="15925803" cy="7749539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539065">
                  <a:extLst>
                    <a:ext uri="{9D8B030D-6E8A-4147-A177-3AD203B41FA5}">
                      <a16:colId xmlns:a16="http://schemas.microsoft.com/office/drawing/2014/main" val="659398462"/>
                    </a:ext>
                  </a:extLst>
                </a:gridCol>
                <a:gridCol w="1769534">
                  <a:extLst>
                    <a:ext uri="{9D8B030D-6E8A-4147-A177-3AD203B41FA5}">
                      <a16:colId xmlns:a16="http://schemas.microsoft.com/office/drawing/2014/main" val="2055683351"/>
                    </a:ext>
                  </a:extLst>
                </a:gridCol>
                <a:gridCol w="1769534">
                  <a:extLst>
                    <a:ext uri="{9D8B030D-6E8A-4147-A177-3AD203B41FA5}">
                      <a16:colId xmlns:a16="http://schemas.microsoft.com/office/drawing/2014/main" val="2948548343"/>
                    </a:ext>
                  </a:extLst>
                </a:gridCol>
                <a:gridCol w="1769534">
                  <a:extLst>
                    <a:ext uri="{9D8B030D-6E8A-4147-A177-3AD203B41FA5}">
                      <a16:colId xmlns:a16="http://schemas.microsoft.com/office/drawing/2014/main" val="3727856590"/>
                    </a:ext>
                  </a:extLst>
                </a:gridCol>
                <a:gridCol w="1769534">
                  <a:extLst>
                    <a:ext uri="{9D8B030D-6E8A-4147-A177-3AD203B41FA5}">
                      <a16:colId xmlns:a16="http://schemas.microsoft.com/office/drawing/2014/main" val="3928829599"/>
                    </a:ext>
                  </a:extLst>
                </a:gridCol>
                <a:gridCol w="1769534">
                  <a:extLst>
                    <a:ext uri="{9D8B030D-6E8A-4147-A177-3AD203B41FA5}">
                      <a16:colId xmlns:a16="http://schemas.microsoft.com/office/drawing/2014/main" val="2919046636"/>
                    </a:ext>
                  </a:extLst>
                </a:gridCol>
                <a:gridCol w="1769534">
                  <a:extLst>
                    <a:ext uri="{9D8B030D-6E8A-4147-A177-3AD203B41FA5}">
                      <a16:colId xmlns:a16="http://schemas.microsoft.com/office/drawing/2014/main" val="520512792"/>
                    </a:ext>
                  </a:extLst>
                </a:gridCol>
                <a:gridCol w="1769534">
                  <a:extLst>
                    <a:ext uri="{9D8B030D-6E8A-4147-A177-3AD203B41FA5}">
                      <a16:colId xmlns:a16="http://schemas.microsoft.com/office/drawing/2014/main" val="1481691215"/>
                    </a:ext>
                  </a:extLst>
                </a:gridCol>
              </a:tblGrid>
              <a:tr h="681791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/>
                        <a:t>Developmental Stage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/>
                        <a:t>Accuracy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/>
                        <a:t>Precision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/>
                        <a:t>Recall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/>
                        <a:t>F1 Score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/>
                        <a:t>Specificity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/>
                        <a:t>Kappa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  <a:defRPr sz="1300" b="1"/>
                      </a:pPr>
                      <a:r>
                        <a:rPr sz="2000" dirty="0"/>
                        <a:t>AUC ROC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155946"/>
                  </a:ext>
                </a:extLst>
              </a:tr>
              <a:tr h="1441052">
                <a:tc>
                  <a:txBody>
                    <a:bodyPr/>
                    <a:lstStyle/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1" dirty="0">
                          <a:solidFill>
                            <a:srgbClr val="1F1F1F"/>
                          </a:solidFill>
                          <a:effectLst/>
                        </a:rPr>
                        <a:t>1. Base Model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(Phase 1 Baseline)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37.27%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0.3812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0.3727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0.3765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0.8872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0.2145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0.6842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3302788102"/>
                  </a:ext>
                </a:extLst>
              </a:tr>
              <a:tr h="1867515">
                <a:tc>
                  <a:txBody>
                    <a:bodyPr/>
                    <a:lstStyle/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1" dirty="0">
                          <a:solidFill>
                            <a:srgbClr val="1F1F1F"/>
                          </a:solidFill>
                          <a:effectLst/>
                        </a:rPr>
                        <a:t>2. Hyperparameter Tuning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(Phase 3 Grid Search)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1" dirty="0">
                          <a:solidFill>
                            <a:srgbClr val="1F1F1F"/>
                          </a:solidFill>
                          <a:effectLst/>
                        </a:rPr>
                        <a:t>93.52%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0.8834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0.8634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0.8734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0.9580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0.8490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0.8821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3296214742"/>
                  </a:ext>
                </a:extLst>
              </a:tr>
              <a:tr h="1712949">
                <a:tc>
                  <a:txBody>
                    <a:bodyPr/>
                    <a:lstStyle/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1" dirty="0">
                          <a:solidFill>
                            <a:srgbClr val="1F1F1F"/>
                          </a:solidFill>
                          <a:effectLst/>
                        </a:rPr>
                        <a:t>3. XAI Verified Champion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(Phase 4 Final Model)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0.9360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0.9359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0.9352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0.9353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0.9892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0.9244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0.9871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893129658"/>
                  </a:ext>
                </a:extLst>
              </a:tr>
              <a:tr h="2046232">
                <a:tc>
                  <a:txBody>
                    <a:bodyPr/>
                    <a:lstStyle/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b="1" dirty="0">
                          <a:solidFill>
                            <a:srgbClr val="1F1F1F"/>
                          </a:solidFill>
                          <a:effectLst/>
                        </a:rPr>
                        <a:t>4. Ablation Study</a:t>
                      </a:r>
                      <a:endParaRPr lang="en-IN" sz="10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(Phase 5 Augment &amp; Edge)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39.73%*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 dirty="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93.52%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0.4020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0.9359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0.3973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0.9352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0.3996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0.9353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0.8950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0.9892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0.2380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0.9244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0.7080</a:t>
                      </a: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br>
                        <a:rPr lang="en-IN" sz="1000" dirty="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n-IN" sz="10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0.9871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Arial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2312795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4519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5B791-2F50-D3E9-38BB-BB511CBE3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D83F678-4D9B-9514-116F-9F93D134F5DF}"/>
              </a:ext>
            </a:extLst>
          </p:cNvPr>
          <p:cNvSpPr/>
          <p:nvPr/>
        </p:nvSpPr>
        <p:spPr>
          <a:xfrm>
            <a:off x="0" y="0"/>
            <a:ext cx="18288000" cy="1371600"/>
          </a:xfrm>
          <a:custGeom>
            <a:avLst/>
            <a:gdLst/>
            <a:ahLst/>
            <a:cxnLst/>
            <a:rect l="l" t="t" r="r" b="b"/>
            <a:pathLst>
              <a:path w="19212993" h="10182886">
                <a:moveTo>
                  <a:pt x="0" y="0"/>
                </a:moveTo>
                <a:lnTo>
                  <a:pt x="19212993" y="0"/>
                </a:lnTo>
                <a:lnTo>
                  <a:pt x="19212993" y="10182886"/>
                </a:lnTo>
                <a:lnTo>
                  <a:pt x="0" y="10182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9B4D8A7-31BC-110F-48DF-02DF2BB0FB72}"/>
              </a:ext>
            </a:extLst>
          </p:cNvPr>
          <p:cNvSpPr txBox="1"/>
          <p:nvPr/>
        </p:nvSpPr>
        <p:spPr>
          <a:xfrm>
            <a:off x="914400" y="320040"/>
            <a:ext cx="16459200" cy="695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25"/>
              </a:lnSpc>
            </a:pPr>
            <a:r>
              <a:rPr lang="en-US" sz="3400" b="1" spc="-385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0"/>
                </a:gradFill>
                <a:latin typeface="Arial"/>
                <a:ea typeface="Open Sauce Bold"/>
                <a:cs typeface="Open Sauce Bold"/>
                <a:sym typeface="Open Sauce Bold"/>
              </a:rPr>
              <a:t>Results and Discussion [MobileNetv2]]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44A501-0BEB-2FBA-28A0-BCC0ED9927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08542"/>
            <a:ext cx="8229600" cy="74545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A3BC0C-7288-BB4C-0D5D-2C5A1326FE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799" y="2108542"/>
            <a:ext cx="9243783" cy="692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24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E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371600"/>
          </a:xfrm>
          <a:custGeom>
            <a:avLst/>
            <a:gdLst/>
            <a:ahLst/>
            <a:cxnLst/>
            <a:rect l="l" t="t" r="r" b="b"/>
            <a:pathLst>
              <a:path w="19212993" h="10182886">
                <a:moveTo>
                  <a:pt x="0" y="0"/>
                </a:moveTo>
                <a:lnTo>
                  <a:pt x="19212993" y="0"/>
                </a:lnTo>
                <a:lnTo>
                  <a:pt x="19212993" y="10182886"/>
                </a:lnTo>
                <a:lnTo>
                  <a:pt x="0" y="10182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914400" y="320040"/>
            <a:ext cx="1645920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3600" b="1" spc="-385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0"/>
                </a:gradFill>
                <a:latin typeface="Arial"/>
                <a:ea typeface="Open Sauce Bold"/>
                <a:cs typeface="Open Sauce Bold"/>
                <a:sym typeface="Open Sauce Bold"/>
              </a:rPr>
              <a:t>Conclusion</a:t>
            </a:r>
          </a:p>
        </p:txBody>
      </p:sp>
      <p:sp>
        <p:nvSpPr>
          <p:cNvPr id="4" name="Conclusion_Body_Box"/>
          <p:cNvSpPr txBox="1"/>
          <p:nvPr/>
        </p:nvSpPr>
        <p:spPr>
          <a:xfrm>
            <a:off x="1097280" y="1828800"/>
            <a:ext cx="9570720" cy="6438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IN" sz="2800" b="1" dirty="0"/>
              <a:t>EfficientNet-B0 delivered the best overall performance</a:t>
            </a:r>
            <a:r>
              <a:rPr lang="en-IN" sz="2800" dirty="0"/>
              <a:t>, achieving </a:t>
            </a:r>
            <a:r>
              <a:rPr lang="en-IN" sz="2800" b="1" dirty="0"/>
              <a:t>98.57% accuracy</a:t>
            </a:r>
            <a:r>
              <a:rPr lang="en-IN" sz="2800" dirty="0"/>
              <a:t>, </a:t>
            </a:r>
            <a:r>
              <a:rPr lang="en-IN" sz="2800" b="1" dirty="0"/>
              <a:t>0.9857 F1-score</a:t>
            </a:r>
            <a:r>
              <a:rPr lang="en-IN" sz="2800" dirty="0"/>
              <a:t>, and </a:t>
            </a:r>
            <a:r>
              <a:rPr lang="en-IN" sz="2800" b="1" dirty="0"/>
              <a:t>0.9984 AUC-ROC</a:t>
            </a:r>
            <a:r>
              <a:rPr lang="en-IN" sz="2800" dirty="0"/>
              <a:t>, making it the most effective model for FER. </a:t>
            </a:r>
          </a:p>
          <a:p>
            <a:pPr marL="342900" indent="-342900">
              <a:lnSpc>
                <a:spcPct val="125000"/>
              </a:lnSpc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IN" sz="2800" b="1" dirty="0"/>
              <a:t>YOLOv8, ResNet-50, and MobileNetV2 demonstrated complementary strengths</a:t>
            </a:r>
            <a:r>
              <a:rPr lang="en-IN" sz="2800" dirty="0"/>
              <a:t> in real-time inference, deep feature learning, and lightweight edge deployment, providing flexible solutions for different applications.</a:t>
            </a:r>
          </a:p>
          <a:p>
            <a:pPr marL="342900" indent="-342900">
              <a:lnSpc>
                <a:spcPct val="125000"/>
              </a:lnSpc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IN" sz="2800" dirty="0"/>
              <a:t> </a:t>
            </a:r>
            <a:r>
              <a:rPr lang="en-IN" sz="2800" b="1" dirty="0"/>
              <a:t>Hyperparameter tuning, transfer learning, Explainable AI (Grad-CAM), and ablation studies</a:t>
            </a:r>
            <a:r>
              <a:rPr lang="en-IN" sz="2800" dirty="0"/>
              <a:t> significantly improved model performance while validating reliable and interpretable emotion recognition for Human–Computer Interaction (HCI).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AF93D4-05DB-CD6E-01F7-06B2248D62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435169"/>
            <a:ext cx="7239000" cy="853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890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EF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712405-8C90-AB9C-2D4C-FE719A455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30B2C4-D513-F982-1D42-E1D334287159}"/>
              </a:ext>
            </a:extLst>
          </p:cNvPr>
          <p:cNvSpPr/>
          <p:nvPr/>
        </p:nvSpPr>
        <p:spPr>
          <a:xfrm>
            <a:off x="0" y="0"/>
            <a:ext cx="18288000" cy="1371600"/>
          </a:xfrm>
          <a:custGeom>
            <a:avLst/>
            <a:gdLst/>
            <a:ahLst/>
            <a:cxnLst/>
            <a:rect l="l" t="t" r="r" b="b"/>
            <a:pathLst>
              <a:path w="19212993" h="10182886">
                <a:moveTo>
                  <a:pt x="0" y="0"/>
                </a:moveTo>
                <a:lnTo>
                  <a:pt x="19212993" y="0"/>
                </a:lnTo>
                <a:lnTo>
                  <a:pt x="19212993" y="10182886"/>
                </a:lnTo>
                <a:lnTo>
                  <a:pt x="0" y="10182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688B0B4-0F79-DEEA-7777-CF1A5A4CA2C3}"/>
              </a:ext>
            </a:extLst>
          </p:cNvPr>
          <p:cNvSpPr txBox="1"/>
          <p:nvPr/>
        </p:nvSpPr>
        <p:spPr>
          <a:xfrm>
            <a:off x="914400" y="320040"/>
            <a:ext cx="1645920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3600" b="1" spc="-385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EF">
                        <a:alpha val="100000"/>
                      </a:srgbClr>
                    </a:gs>
                  </a:gsLst>
                  <a:lin ang="0"/>
                </a:gradFill>
                <a:latin typeface="Arial"/>
                <a:ea typeface="Open Sauce Bold"/>
                <a:cs typeface="Open Sauce Bold"/>
                <a:sym typeface="Open Sauce Bold"/>
              </a:rPr>
              <a:t>Conclusion</a:t>
            </a:r>
          </a:p>
        </p:txBody>
      </p:sp>
      <p:sp>
        <p:nvSpPr>
          <p:cNvPr id="4" name="Conclusion_Body_Box">
            <a:extLst>
              <a:ext uri="{FF2B5EF4-FFF2-40B4-BE49-F238E27FC236}">
                <a16:creationId xmlns:a16="http://schemas.microsoft.com/office/drawing/2014/main" id="{47E71A27-3FA0-125F-8DE6-5686678B6F83}"/>
              </a:ext>
            </a:extLst>
          </p:cNvPr>
          <p:cNvSpPr txBox="1"/>
          <p:nvPr/>
        </p:nvSpPr>
        <p:spPr>
          <a:xfrm>
            <a:off x="1097280" y="1828800"/>
            <a:ext cx="9570720" cy="2899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800"/>
              </a:spcAft>
            </a:pPr>
            <a:endParaRPr lang="en-US" sz="2800" b="1" dirty="0"/>
          </a:p>
          <a:p>
            <a:pPr marL="342900" indent="-342900">
              <a:lnSpc>
                <a:spcPct val="125000"/>
              </a:lnSpc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2800" b="1" dirty="0"/>
              <a:t>E</a:t>
            </a:r>
            <a:r>
              <a:rPr lang="en-IN" sz="2800" b="1" dirty="0"/>
              <a:t>XPAND THE DATASET WITH AGE GROUPS</a:t>
            </a:r>
          </a:p>
          <a:p>
            <a:pPr marL="342900" indent="-342900">
              <a:lnSpc>
                <a:spcPct val="125000"/>
              </a:lnSpc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IN" sz="2800" b="1" dirty="0"/>
              <a:t>INTEGRATE MULTI MODEL EMOTION</a:t>
            </a:r>
          </a:p>
          <a:p>
            <a:pPr marL="342900" indent="-342900">
              <a:lnSpc>
                <a:spcPct val="125000"/>
              </a:lnSpc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IN" sz="2800" b="1" dirty="0"/>
              <a:t>DEPLOY THE MODEL ON EDGE DEVICES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3CF8CB-68B1-2383-AC6A-7CC58FA1714D}"/>
              </a:ext>
            </a:extLst>
          </p:cNvPr>
          <p:cNvSpPr txBox="1"/>
          <p:nvPr/>
        </p:nvSpPr>
        <p:spPr>
          <a:xfrm>
            <a:off x="685800" y="1691640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FUTURE ENHANCEMENT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EFCB4B-8353-CFA9-3870-979ADF9199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0" y="2014805"/>
            <a:ext cx="8199120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817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E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3474720"/>
            <a:ext cx="16459200" cy="822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261"/>
              </a:lnSpc>
            </a:pPr>
            <a:endParaRPr lang="en-US" sz="7200" b="1" spc="-35" dirty="0">
              <a:solidFill>
                <a:srgbClr val="D44F4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ctr">
              <a:lnSpc>
                <a:spcPts val="4261"/>
              </a:lnSpc>
            </a:pPr>
            <a:r>
              <a:rPr lang="en-US" sz="6400" b="1" spc="-35" dirty="0">
                <a:solidFill>
                  <a:srgbClr val="D44F4F"/>
                </a:solidFill>
                <a:latin typeface="Arial"/>
                <a:ea typeface="DM Sans Bold"/>
                <a:cs typeface="DM Sans Bold"/>
                <a:sym typeface="DM Sans Bold"/>
              </a:rPr>
              <a:t>COGNIA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731520"/>
            <a:ext cx="16459200" cy="731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61"/>
              </a:lnSpc>
            </a:pPr>
            <a:r>
              <a:rPr lang="en-US" sz="4000" b="1" spc="-35" dirty="0">
                <a:solidFill>
                  <a:schemeClr val="tx2">
                    <a:lumMod val="75000"/>
                  </a:schemeClr>
                </a:solidFill>
                <a:latin typeface="Arial"/>
                <a:ea typeface="DM Sans Bold"/>
                <a:cs typeface="DM Sans Bold"/>
                <a:sym typeface="DM Sans Bold"/>
              </a:rPr>
              <a:t>Centre for Artificial Intelligence &amp; Data Science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209800" cy="1280160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3"/>
          <a:stretch>
            <a:fillRect/>
          </a:stretch>
        </p:blipFill>
        <p:spPr>
          <a:xfrm>
            <a:off x="6035040" y="1828800"/>
            <a:ext cx="1219200" cy="1280160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4"/>
          <a:stretch>
            <a:fillRect/>
          </a:stretch>
        </p:blipFill>
        <p:spPr>
          <a:xfrm>
            <a:off x="8869680" y="1828800"/>
            <a:ext cx="2425700" cy="1280160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5"/>
          <a:stretch>
            <a:fillRect/>
          </a:stretch>
        </p:blipFill>
        <p:spPr>
          <a:xfrm>
            <a:off x="12710160" y="1828800"/>
            <a:ext cx="1447800" cy="12801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14400" y="4480560"/>
            <a:ext cx="164592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61"/>
              </a:lnSpc>
            </a:pPr>
            <a:r>
              <a:rPr sz="3200" b="1">
                <a:latin typeface="Arial"/>
              </a:rPr>
              <a:t>COmpetition  on Generative and Novel Intelligent Algorithms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7315200"/>
            <a:ext cx="16459200" cy="581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61"/>
              </a:lnSpc>
            </a:pPr>
            <a:r>
              <a:rPr sz="2600" b="1" dirty="0">
                <a:latin typeface="Arial"/>
              </a:rPr>
              <a:t>Department of Computer Science and Application</a:t>
            </a:r>
            <a:r>
              <a:rPr lang="en-IN" sz="2600" b="1">
                <a:latin typeface="Arial"/>
              </a:rPr>
              <a:t>s</a:t>
            </a:r>
            <a:endParaRPr sz="2600" b="1"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7909560"/>
            <a:ext cx="16459200" cy="457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61"/>
              </a:lnSpc>
            </a:pPr>
            <a:r>
              <a:rPr sz="2600" b="1">
                <a:latin typeface="Arial"/>
              </a:rPr>
              <a:t>The Gandhigram Rural Institute (DTBU)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8503920"/>
            <a:ext cx="16459200" cy="457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61"/>
              </a:lnSpc>
            </a:pPr>
            <a:r>
              <a:rPr sz="2600" b="1">
                <a:latin typeface="Arial"/>
              </a:rPr>
              <a:t>Gandhigram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040" y="5303520"/>
            <a:ext cx="1645920" cy="17007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1422</TotalTime>
  <Words>1307</Words>
  <Application>Microsoft Office PowerPoint</Application>
  <PresentationFormat>Custom</PresentationFormat>
  <Paragraphs>491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DM Sans Bold</vt:lpstr>
      <vt:lpstr>Open Sauce Bold</vt:lpstr>
      <vt:lpstr>Google Sans Text</vt:lpstr>
      <vt:lpstr>Arial</vt:lpstr>
      <vt:lpstr>DM Sans</vt:lpstr>
      <vt:lpstr>Wingdings</vt:lpstr>
      <vt:lpstr>Calibri</vt:lpstr>
      <vt:lpstr>Segoe WPC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Event - Cognia</dc:title>
  <cp:lastModifiedBy>Vijay pradhap</cp:lastModifiedBy>
  <cp:revision>34</cp:revision>
  <dcterms:created xsi:type="dcterms:W3CDTF">2006-08-16T00:00:00Z</dcterms:created>
  <dcterms:modified xsi:type="dcterms:W3CDTF">2026-07-27T08:38:04Z</dcterms:modified>
  <dc:identifier>DAHQON2a-UA</dc:identifier>
</cp:coreProperties>
</file>