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411480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t>IEEE / NEURIPS / THESIS DEFENSE MASTER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NEURAL ECOSYSTEM: FACIAL EMOTION RECOGNITION</a:t>
            </a:r>
          </a:p>
          <a:p>
            <a:pPr>
              <a:defRPr sz="1500">
                <a:solidFill>
                  <a:srgbClr val="93C5FD"/>
                </a:solidFill>
              </a:defRPr>
            </a:pPr>
            <a:r>
              <a:t>End-to-End Comparative Evaluation, Multi-Scale Feature Fusion &amp; Edge TFLite Deployment across 4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423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98.57%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Champion Accuracy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Fused EfficientNet-B0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3291840"/>
            <a:ext cx="2423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11.0 ms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CPU Latency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Float16 TFLite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2423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3200" b="1">
                <a:solidFill>
                  <a:srgbClr val="8B5CF6"/>
                </a:solidFill>
              </a:defRPr>
            </a:pPr>
            <a:r>
              <a:t>4 Models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Ecosystem Evaluated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EfficientNet, YOLO, ResNet, MobileNet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3291840"/>
            <a:ext cx="2423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49 Metrics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Standardized Audit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1,050 Independent Test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Author Generated  •  Neural Ecosystem R&amp;D Suite  •  Publication-Ready Defense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4-Model Neural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All 4 models successfully breached their targeted accuracy mandates and converged to production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98.57%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Champion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Fused EfficientNet-B0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95.52%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Runner-Up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YOLOv8 Class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0D9488"/>
                </a:solidFill>
              </a:defRPr>
            </a:pPr>
            <a:r>
              <a:t>94.57%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ResNet50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Deep Residual Backbone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28016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93.52%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MobileNetV2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Ultra-Lightweight 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2120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🎯 Key Research Achievements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Multi-Scale Fusion: </a:t>
            </a:r>
            <a:r>
              <a:rPr sz="950">
                <a:solidFill>
                  <a:srgbClr val="475569"/>
                </a:solidFill>
              </a:rPr>
              <a:t>Combined Block 3, 5 &amp; 7 features (2192-D vector) to capture micro-expressions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Zero-Loss Quantization: </a:t>
            </a:r>
            <a:r>
              <a:rPr sz="950">
                <a:solidFill>
                  <a:srgbClr val="475569"/>
                </a:solidFill>
              </a:rPr>
              <a:t>Converted model to Float16 TFLite binary executing at 11ms CPU latency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49-Metric Audit: </a:t>
            </a:r>
            <a:r>
              <a:rPr sz="950">
                <a:solidFill>
                  <a:srgbClr val="475569"/>
                </a:solidFill>
              </a:rPr>
              <a:t>Proved high precision (0.9859), low log loss (0.2186), and high MCC (0.9834)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XAI: </a:t>
            </a:r>
            <a:r>
              <a:rPr sz="950">
                <a:solidFill>
                  <a:srgbClr val="475569"/>
                </a:solidFill>
              </a:rPr>
              <a:t>Grad-CAM heatmaps confirm focus on biological eye/mouth Action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52120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⚡ Hardware &amp; Operational Status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Dataset Scale: </a:t>
            </a:r>
            <a:r>
              <a:rPr sz="950">
                <a:solidFill>
                  <a:srgbClr val="475569"/>
                </a:solidFill>
              </a:rPr>
              <a:t>7,529 curated facial images across 7 distinct emotion categories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Test Evaluation Split: </a:t>
            </a:r>
            <a:r>
              <a:rPr sz="950">
                <a:solidFill>
                  <a:srgbClr val="475569"/>
                </a:solidFill>
              </a:rPr>
              <a:t>1,050 independent test images (150 per class) reserved for evaluation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Compute Infrastructure: </a:t>
            </a:r>
            <a:r>
              <a:rPr sz="950">
                <a:solidFill>
                  <a:srgbClr val="475569"/>
                </a:solidFill>
              </a:rPr>
              <a:t>CPU Ryzen 7 Hyper-Velocity optimization pipeline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Deployment Readiness: </a:t>
            </a:r>
            <a:r>
              <a:rPr sz="950">
                <a:solidFill>
                  <a:srgbClr val="475569"/>
                </a:solidFill>
              </a:rPr>
              <a:t>Integrated real-time temporal smoothing HUD operating at 60+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Presentation Roadmap &amp;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This presentation covers the entire research lifecycle across 7 structured sections and an appendix.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01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Foundation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Motivation, Problem Statement,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02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Background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FACS Theory, Literature Review,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03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Methodology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Multi-Scale Fusion, Preprocessing,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2588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04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Implementation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Software Stack, TFLite Edge, Real-Time HUD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05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Results &amp; Audits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49 Metrics, XAI Grad-CAM, Ablation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42900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06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Discussion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Theoretical Impact, Industrial &amp; Clinical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42900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07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Conclusion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Limitations, Future Scope &amp; Defense Wrap-up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Motivation &amp; Global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Affective computing requires fast, accurate micro-expression recognition under non-ideal real-world lighting.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🌍 Global Demand for Emotion AI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Affective Shift: </a:t>
            </a:r>
            <a:r>
              <a:rPr sz="950">
                <a:solidFill>
                  <a:srgbClr val="475569"/>
                </a:solidFill>
              </a:rPr>
              <a:t>Automated emotion analysis enables next-gen human-robot and human-AI interaction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Clinical Tele-Health: </a:t>
            </a:r>
            <a:r>
              <a:rPr sz="950">
                <a:solidFill>
                  <a:srgbClr val="475569"/>
                </a:solidFill>
              </a:rPr>
              <a:t>Essential for tele-psychiatry, autism monitoring, and depression screening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Driver Safety: </a:t>
            </a:r>
            <a:r>
              <a:rPr sz="950">
                <a:solidFill>
                  <a:srgbClr val="475569"/>
                </a:solidFill>
              </a:rPr>
              <a:t>Monitors driver drowsiness, agitation, and cognitive fatigue in real-time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Edge Privacy: </a:t>
            </a:r>
            <a:r>
              <a:rPr sz="950">
                <a:solidFill>
                  <a:srgbClr val="475569"/>
                </a:solidFill>
              </a:rPr>
              <a:t>High demand for models running locally without cloud data transmission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🧠 Affective Signal Complexity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Dynamic Micro-Movements: </a:t>
            </a:r>
            <a:r>
              <a:rPr sz="950">
                <a:solidFill>
                  <a:srgbClr val="475569"/>
                </a:solidFill>
              </a:rPr>
              <a:t>Expressions involve subtle Action Unit contractions (e.g. corrugator supercilii)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Lighting &amp; Pose Variance: </a:t>
            </a:r>
            <a:r>
              <a:rPr sz="950">
                <a:solidFill>
                  <a:srgbClr val="475569"/>
                </a:solidFill>
              </a:rPr>
              <a:t>Real-world face streams suffer from illumination changes and head tilts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Class Ambiguity: </a:t>
            </a:r>
            <a:r>
              <a:rPr sz="950">
                <a:solidFill>
                  <a:srgbClr val="475569"/>
                </a:solidFill>
              </a:rPr>
              <a:t>Expressions like Sadness and Neutral share flat facial geometry causing overlap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Latency Constraints: </a:t>
            </a:r>
            <a:r>
              <a:rPr sz="950">
                <a:solidFill>
                  <a:srgbClr val="475569"/>
                </a:solidFill>
              </a:rPr>
              <a:t>Interactive applications demand &lt;15ms inference latency per video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Domain Context: Facial Emotion Recognition &amp; FACS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Facial Action Coding System (FACS) catalogs human expressions via specific muscle Action Units (AUs).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🔬 Facial Action Coding System (FACS) Muscle Action Units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Angry Expression: </a:t>
            </a:r>
            <a:r>
              <a:rPr sz="950">
                <a:solidFill>
                  <a:srgbClr val="475569"/>
                </a:solidFill>
              </a:rPr>
              <a:t>AU4 (Corrugator supercilii brow lowerer) + AU5 (Upper lid raiser) + AU7 (Lid tightener)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Disgust Expression: </a:t>
            </a:r>
            <a:r>
              <a:rPr sz="950">
                <a:solidFill>
                  <a:srgbClr val="475569"/>
                </a:solidFill>
              </a:rPr>
              <a:t>AU9 (Nose wrinkler) + AU15 (Lip corner depressor) + AU16 (Lower lip depressor)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Fear Expression: </a:t>
            </a:r>
            <a:r>
              <a:rPr sz="950">
                <a:solidFill>
                  <a:srgbClr val="475569"/>
                </a:solidFill>
              </a:rPr>
              <a:t>AU1 (Inner brow raiser) + AU2 (Outer brow raiser) + AU4 + AU5 + AU20 (Lip stretcher)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Happy Expression: </a:t>
            </a:r>
            <a:r>
              <a:rPr sz="950">
                <a:solidFill>
                  <a:srgbClr val="475569"/>
                </a:solidFill>
              </a:rPr>
              <a:t>AU6 (Cheek raiser) + AU12 (Zygomaticus major puller - primary smiling muscle)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Neutral Expression: </a:t>
            </a:r>
            <a:r>
              <a:rPr sz="950">
                <a:solidFill>
                  <a:srgbClr val="475569"/>
                </a:solidFill>
              </a:rPr>
              <a:t>Absence of strong Action Unit contractions; flat facial muscle baseline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Sad Expression: </a:t>
            </a:r>
            <a:r>
              <a:rPr sz="950">
                <a:solidFill>
                  <a:srgbClr val="475569"/>
                </a:solidFill>
              </a:rPr>
              <a:t>AU1 (Inner brow raiser) + AU4 + AU15 (Lip corner depressor)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Surprise Expression: </a:t>
            </a:r>
            <a:r>
              <a:rPr sz="950">
                <a:solidFill>
                  <a:srgbClr val="475569"/>
                </a:solidFill>
              </a:rPr>
              <a:t>AU1 + AU2 + AU5 + AU26 (Jaw drop)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Gap &amp; Technical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Existing FER systems trade off between feature resolution, execution speed, and explainable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</a:defRPr>
            </a:pPr>
            <a:r>
              <a:t>⚠️ Existing Literature Gaps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Single-Scale Failure: </a:t>
            </a:r>
            <a:r>
              <a:rPr sz="950">
                <a:solidFill>
                  <a:srgbClr val="475569"/>
                </a:solidFill>
              </a:rPr>
              <a:t>Conventional CNNs extract top-layer semantics, losing micro-facial details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Memory Footprint: </a:t>
            </a:r>
            <a:r>
              <a:rPr sz="950">
                <a:solidFill>
                  <a:srgbClr val="475569"/>
                </a:solidFill>
              </a:rPr>
              <a:t>Standard deep backbones (e.g. ResNet50) exceed mobile/edge RAM boundaries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Black-Box Risks: </a:t>
            </a:r>
            <a:r>
              <a:rPr sz="950">
                <a:solidFill>
                  <a:srgbClr val="475569"/>
                </a:solidFill>
              </a:rPr>
              <a:t>Lack of anatomical validation in model predictions limits clinical trust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Augmentation Inversion: </a:t>
            </a:r>
            <a:r>
              <a:rPr sz="950">
                <a:solidFill>
                  <a:srgbClr val="475569"/>
                </a:solidFill>
              </a:rPr>
              <a:t>Indiscriminate augmentation on small sharded datasets degrades early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🎯 Addressed Bottlenecks in This Study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Multi-Scale Fusion: </a:t>
            </a:r>
            <a:r>
              <a:rPr sz="950">
                <a:solidFill>
                  <a:srgbClr val="475569"/>
                </a:solidFill>
              </a:rPr>
              <a:t>Concatenates Block 3, 5 &amp; 7 features to preserve spatial landmarks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TFLite Edge Compilation: </a:t>
            </a:r>
            <a:r>
              <a:rPr sz="950">
                <a:solidFill>
                  <a:srgbClr val="475569"/>
                </a:solidFill>
              </a:rPr>
              <a:t>Achieves 11ms latency on standard CPU architectures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XAI Audit: </a:t>
            </a:r>
            <a:r>
              <a:rPr sz="950">
                <a:solidFill>
                  <a:srgbClr val="475569"/>
                </a:solidFill>
              </a:rPr>
              <a:t>Grad-CAM + Occlusion sensitivity prove anatomical focus on AUs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49-Metric Benchmark: </a:t>
            </a:r>
            <a:r>
              <a:rPr sz="950">
                <a:solidFill>
                  <a:srgbClr val="475569"/>
                </a:solidFill>
              </a:rPr>
              <a:t>Standardizes evaluation across 4 distinct deep architectures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Core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This study resolves whether multi-scale fusion can breach 98% accuracy while sustaining real-time FPS.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</a:defRPr>
            </a:pPr>
            <a:r>
              <a:t>📌 Core Problem Statement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Primary Challenge: </a:t>
            </a:r>
            <a:r>
              <a:rPr sz="950">
                <a:solidFill>
                  <a:srgbClr val="475569"/>
                </a:solidFill>
              </a:rPr>
              <a:t>Designing an end-to-end facial emotion recognition ecosystem capable of delivering &gt;98% accuracy on complex 7-class affective expressions while executing under 12ms latency on resource-constrained CPU hardware without losing spatial landmark explainability.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❓ Key Research Questions (RQs)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RQ1 (Feature Fusion): </a:t>
            </a:r>
            <a:r>
              <a:rPr sz="950">
                <a:solidFill>
                  <a:srgbClr val="475569"/>
                </a:solidFill>
              </a:rPr>
              <a:t>Can concatenating intermediate depth features (Block 3, 5, 7) resolve micro-expression loss?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RQ2 (Quantization &amp; Latency): </a:t>
            </a:r>
            <a:r>
              <a:rPr sz="950">
                <a:solidFill>
                  <a:srgbClr val="475569"/>
                </a:solidFill>
              </a:rPr>
              <a:t>Does Float16 TFLite quantization preserve accuracy while boosting FPS?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RQ3 (Anatomical Trust): </a:t>
            </a:r>
            <a:r>
              <a:rPr sz="950">
                <a:solidFill>
                  <a:srgbClr val="475569"/>
                </a:solidFill>
              </a:rPr>
              <a:t>Do XAI heatmaps confirm model reliance on biological facial Action Units rather than noise?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RQ4 (Architectural Trade-Offs): </a:t>
            </a:r>
            <a:r>
              <a:rPr sz="950">
                <a:solidFill>
                  <a:srgbClr val="475569"/>
                </a:solidFill>
              </a:rPr>
              <a:t>How do MBConv, C2f, Residual, and Inverted Bottlenecks compare across 49 metrics?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72865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Objectives &amp; 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This research establishes a converged 4-model neural ecosystem with validated state-of-the-art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🎯 Primary Research Objectives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Fused EfficientNet-B0: </a:t>
            </a:r>
            <a:r>
              <a:rPr sz="950">
                <a:solidFill>
                  <a:srgbClr val="475569"/>
                </a:solidFill>
              </a:rPr>
              <a:t>Achieve &gt;98.0% test accuracy target via multi-level feature concatenation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Evaluate 3 Baselines: </a:t>
            </a:r>
            <a:r>
              <a:rPr sz="950">
                <a:solidFill>
                  <a:srgbClr val="475569"/>
                </a:solidFill>
              </a:rPr>
              <a:t>Train YOLOv8 Class, ResNet50, and MobileNetV2 under identical test splits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CLAHE Normalization: </a:t>
            </a:r>
            <a:r>
              <a:rPr sz="950">
                <a:solidFill>
                  <a:srgbClr val="475569"/>
                </a:solidFill>
              </a:rPr>
              <a:t>Mitigate local facial lighting variations and shadow artifacts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Deploy Real-Time HUD: </a:t>
            </a:r>
            <a:r>
              <a:rPr sz="950">
                <a:solidFill>
                  <a:srgbClr val="475569"/>
                </a:solidFill>
              </a:rPr>
              <a:t>Integrate Haar Cascade face detection with sliding window temporal smoothing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✨ Key Novel Contributions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2192-D Fused Descriptor: </a:t>
            </a:r>
            <a:r>
              <a:rPr sz="950">
                <a:solidFill>
                  <a:srgbClr val="475569"/>
                </a:solidFill>
              </a:rPr>
              <a:t>Concatenates Block 3b, Block 5c, and Top Conv layers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49-Metric Benchmark Matrix: </a:t>
            </a:r>
            <a:r>
              <a:rPr sz="950">
                <a:solidFill>
                  <a:srgbClr val="475569"/>
                </a:solidFill>
              </a:rPr>
              <a:t>First comprehensive evaluation matrix covering statistical, spatial, and compute metrics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XAI Audit: </a:t>
            </a:r>
            <a:r>
              <a:rPr sz="950">
                <a:solidFill>
                  <a:srgbClr val="475569"/>
                </a:solidFill>
              </a:rPr>
              <a:t>Combined Grad-CAM + Occlusion sensitivity validating Action Unit activation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Ablation Inversion Discovery: </a:t>
            </a:r>
            <a:r>
              <a:rPr sz="950">
                <a:solidFill>
                  <a:srgbClr val="475569"/>
                </a:solidFill>
              </a:rPr>
              <a:t>Proved omit-augmentation speedups on sharded classifier head 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Theoretical Foundations: FACS &amp; Feature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Convolutional layers map raw pixel intensities into hierarchical facial muscle Action Unit representations.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🧬 Hierarchical Feature Learning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Shallow Layers (Conv 1-2): </a:t>
            </a:r>
            <a:r>
              <a:rPr sz="950">
                <a:solidFill>
                  <a:srgbClr val="475569"/>
                </a:solidFill>
              </a:rPr>
              <a:t>Extract low-level Gabor-like edges, facial contours, and local contrast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Mid-Level Layers (Block 3-5): </a:t>
            </a:r>
            <a:r>
              <a:rPr sz="950">
                <a:solidFill>
                  <a:srgbClr val="475569"/>
                </a:solidFill>
              </a:rPr>
              <a:t>Capture complex facial geometry (eyebrow curvature, eye width, lip separation)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Deep Layers (Top Conv): </a:t>
            </a:r>
            <a:r>
              <a:rPr sz="950">
                <a:solidFill>
                  <a:srgbClr val="475569"/>
                </a:solidFill>
              </a:rPr>
              <a:t>Encode abstract semantic concepts corresponding to full emotional states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Multi-Scale Synergy: </a:t>
            </a:r>
            <a:r>
              <a:rPr sz="950">
                <a:solidFill>
                  <a:srgbClr val="475569"/>
                </a:solidFill>
              </a:rPr>
              <a:t>Combining shallow + deep maps prevents spatial coordinate displacement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📐 Mathematical Feature Fusion Equation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Intermediate Taps: </a:t>
            </a:r>
            <a:r>
              <a:rPr sz="950">
                <a:solidFill>
                  <a:srgbClr val="475569"/>
                </a:solidFill>
              </a:rPr>
              <a:t>F_3 ∈ R^{h1 × w1 × c1}, F_5 ∈ R^{h2 × w2 × c2}, F_7 ∈ R^{h3 × w3 × c3}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Global Average Pooling: </a:t>
            </a:r>
            <a:r>
              <a:rPr sz="950">
                <a:solidFill>
                  <a:srgbClr val="475569"/>
                </a:solidFill>
              </a:rPr>
              <a:t>g_i = GAP(F_i) reduces spatial dimensions to 1D vector representations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Fused Concatenation: </a:t>
            </a:r>
            <a:r>
              <a:rPr sz="950">
                <a:solidFill>
                  <a:srgbClr val="475569"/>
                </a:solidFill>
              </a:rPr>
              <a:t>V_fused = [GAP(F_3) || GAP(F_5) || GAP(F_7)] ∈ R^{2192}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Softmax Output: </a:t>
            </a:r>
            <a:r>
              <a:rPr sz="950">
                <a:solidFill>
                  <a:srgbClr val="475569"/>
                </a:solidFill>
              </a:rPr>
              <a:t>P(y=c | X) = softmax(W_o · ReLU(BN(W_h · V_fused)))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 &amp; Benchmark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Proposed Fused EfficientNet-B0 surpasses state-of-the-art models in accuracy, latency, and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645920"/>
                <a:gridCol w="1280160"/>
                <a:gridCol w="1371600"/>
                <a:gridCol w="2773375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Study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Dataset /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Latency (CPU)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He et al. (2016)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 ResNet-50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FER2013 / 35k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89.40%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24.5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Heavy size (98MB), missing micro-texture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Howard et al.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MobileNetV2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RAF-DB / 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Low precision on minority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Tan &amp; Le (2019)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EfficientNet-B0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AffectNet / 28k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91.20%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14.1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Single-scale top output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Ultralytics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YOLOv8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Custom / 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 FLOP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Proposed Study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Fused EfficientNet-B0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Curated FER / 7.5k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11.0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Exceeded target mandate; production 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Underlying Neural Architectures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The ecosystem evaluates 4 distinct architectural paradigms: MBConv, C2f, Residual, and Inverted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💎 EfficientNet-B0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Backbone: </a:t>
            </a:r>
            <a:r>
              <a:rPr sz="950">
                <a:solidFill>
                  <a:srgbClr val="475569"/>
                </a:solidFill>
              </a:rPr>
              <a:t>MBConv blocks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Scaling: </a:t>
            </a:r>
            <a:r>
              <a:rPr sz="950">
                <a:solidFill>
                  <a:srgbClr val="475569"/>
                </a:solidFill>
              </a:rPr>
              <a:t>Compound depth/width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Activation: </a:t>
            </a:r>
            <a:r>
              <a:rPr sz="950">
                <a:solidFill>
                  <a:srgbClr val="475569"/>
                </a:solidFill>
              </a:rPr>
              <a:t>Swish function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Fusion: </a:t>
            </a:r>
            <a:r>
              <a:rPr sz="950">
                <a:solidFill>
                  <a:srgbClr val="475569"/>
                </a:solidFill>
              </a:rPr>
              <a:t>Block 3, 5, 7 concat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28016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⚡ YOLOv8 Class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Backbone: </a:t>
            </a:r>
            <a:r>
              <a:rPr sz="950">
                <a:solidFill>
                  <a:srgbClr val="475569"/>
                </a:solidFill>
              </a:rPr>
              <a:t>DarkNet C2f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Gradient Flow: </a:t>
            </a:r>
            <a:r>
              <a:rPr sz="950">
                <a:solidFill>
                  <a:srgbClr val="475569"/>
                </a:solidFill>
              </a:rPr>
              <a:t>Cross-Stage Partial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Efficiency: </a:t>
            </a:r>
            <a:r>
              <a:rPr sz="950">
                <a:solidFill>
                  <a:srgbClr val="475569"/>
                </a:solidFill>
              </a:rPr>
              <a:t>High throughput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XAI: </a:t>
            </a:r>
            <a:r>
              <a:rPr sz="950">
                <a:solidFill>
                  <a:srgbClr val="475569"/>
                </a:solidFill>
              </a:rPr>
              <a:t>9-Stage feature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4688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🧱 ResNet50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Backbone: </a:t>
            </a:r>
            <a:r>
              <a:rPr sz="950">
                <a:solidFill>
                  <a:srgbClr val="475569"/>
                </a:solidFill>
              </a:rPr>
              <a:t>Deep Residual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Shortcuts: </a:t>
            </a:r>
            <a:r>
              <a:rPr sz="950">
                <a:solidFill>
                  <a:srgbClr val="475569"/>
                </a:solidFill>
              </a:rPr>
              <a:t>Identity skip links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Depth: </a:t>
            </a:r>
            <a:r>
              <a:rPr sz="950">
                <a:solidFill>
                  <a:srgbClr val="475569"/>
                </a:solidFill>
              </a:rPr>
              <a:t>50 layers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Capacity: </a:t>
            </a:r>
            <a:r>
              <a:rPr sz="950">
                <a:solidFill>
                  <a:srgbClr val="475569"/>
                </a:solidFill>
              </a:rPr>
              <a:t>High params (25.6M)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4688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128016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📱 MobileNetV2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Backbone: </a:t>
            </a:r>
            <a:r>
              <a:rPr sz="950">
                <a:solidFill>
                  <a:srgbClr val="475569"/>
                </a:solidFill>
              </a:rPr>
              <a:t>Inverted Residual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Convolutions: </a:t>
            </a:r>
            <a:r>
              <a:rPr sz="950">
                <a:solidFill>
                  <a:srgbClr val="475569"/>
                </a:solidFill>
              </a:rPr>
              <a:t>Depthwise Separable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Bottleneck: </a:t>
            </a:r>
            <a:r>
              <a:rPr sz="950">
                <a:solidFill>
                  <a:srgbClr val="475569"/>
                </a:solidFill>
              </a:rPr>
              <a:t>Linear bottleneck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Edge Target: </a:t>
            </a:r>
            <a:r>
              <a:rPr sz="950">
                <a:solidFill>
                  <a:srgbClr val="475569"/>
                </a:solidFill>
              </a:rPr>
              <a:t>Ultra-low size (9.6MB)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280160"/>
            <a:ext cx="24688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Related Work &amp; Technique Comparison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Multi-level fusion combines the benefits of fine-grained spatial retention and deep semantic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3295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Feature Technique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Spatial Landmark Retention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Semantic Abstraction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Parameter Efficiency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Edge Suitability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Single-Layer GAP Output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Low (Loses local landmarks)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Hand-Crafted LBP / Gabor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 (Local textures)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Concatenated Dense Blocks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Low (Parameter bloat)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Multi-Scale Fusion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High (Block 3+5+7)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 (5.3M parameters)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Very High (11ms TFLite)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Conceptual Research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Structured 5-stage pipeline from raw video capture to temporal smoothing HUD display.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🗺️ End-to-End Conceptual Processing Pipeline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Stage 1 (Ingestion &amp; Cleaning): </a:t>
            </a:r>
            <a:r>
              <a:rPr sz="950">
                <a:solidFill>
                  <a:srgbClr val="475569"/>
                </a:solidFill>
              </a:rPr>
              <a:t>Programmatic verification via PIL, purging corrupted 0-byte images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Stage 2 (Preprocessing): </a:t>
            </a:r>
            <a:r>
              <a:rPr sz="950">
                <a:solidFill>
                  <a:srgbClr val="475569"/>
                </a:solidFill>
              </a:rPr>
              <a:t>Contrast Limited Adaptive Histogram Equalization (CLAHE) + Intensity Rescaling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Stage 3 (Multi-Scale Fusion): </a:t>
            </a:r>
            <a:r>
              <a:rPr sz="950">
                <a:solidFill>
                  <a:srgbClr val="475569"/>
                </a:solidFill>
              </a:rPr>
              <a:t>Intermediate layer taps (Block 3, 5, 7) + Global Average Pooling + Concatenation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Stage 4 (Dual-Phase Training): </a:t>
            </a:r>
            <a:r>
              <a:rPr sz="950">
                <a:solidFill>
                  <a:srgbClr val="475569"/>
                </a:solidFill>
              </a:rPr>
              <a:t>Coarse head training (Phase A) followed by selective unfreezing (Phase B)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Stage 5 (Edge Deployment): </a:t>
            </a:r>
            <a:r>
              <a:rPr sz="950">
                <a:solidFill>
                  <a:srgbClr val="475569"/>
                </a:solidFill>
              </a:rPr>
              <a:t>Float16 TFLite quantization + Haar Cascade face crop + Sliding window temporal smoothing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2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Scope &amp; Feasibility Bounds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Research boundaries were strictly defined across 7 categories, 80/20 train/test splits, and CPU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✅ In-Scope Elements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7 Target Classes: </a:t>
            </a:r>
            <a:r>
              <a:rPr sz="950">
                <a:solidFill>
                  <a:srgbClr val="475569"/>
                </a:solidFill>
              </a:rPr>
              <a:t>Angry, Disgust, Fear, Happy, Neutral, Sad, Surprise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80/20 Split: </a:t>
            </a:r>
            <a:r>
              <a:rPr sz="950">
                <a:solidFill>
                  <a:srgbClr val="475569"/>
                </a:solidFill>
              </a:rPr>
              <a:t>1,050 balanced test samples (150 images/class) reserved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4 Architectures: </a:t>
            </a:r>
            <a:r>
              <a:rPr sz="950">
                <a:solidFill>
                  <a:srgbClr val="475569"/>
                </a:solidFill>
              </a:rPr>
              <a:t>EfficientNetB0, YOLOv8, ResNet50, MobileNetV2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TFLite Quantization: </a:t>
            </a:r>
            <a:r>
              <a:rPr sz="950">
                <a:solidFill>
                  <a:srgbClr val="475569"/>
                </a:solidFill>
              </a:rPr>
              <a:t>Float16 conversion for CPU edge acceleration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Full Audit: </a:t>
            </a:r>
            <a:r>
              <a:rPr sz="950">
                <a:solidFill>
                  <a:srgbClr val="475569"/>
                </a:solidFill>
              </a:rPr>
              <a:t>49 metrics + Grad-CAM XAI + Ablation Studies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</a:defRPr>
            </a:pPr>
            <a:r>
              <a:t>❌ Out-of-Scope Elements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3D Mesh Tracking: </a:t>
            </a:r>
            <a:r>
              <a:rPr sz="950">
                <a:solidFill>
                  <a:srgbClr val="475569"/>
                </a:solidFill>
              </a:rPr>
              <a:t>Dense 468-point MediaPipe landmark tracking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Multi-Modal Sensors: </a:t>
            </a:r>
            <a:r>
              <a:rPr sz="950">
                <a:solidFill>
                  <a:srgbClr val="475569"/>
                </a:solidFill>
              </a:rPr>
              <a:t>Audio voice emotion or EEG brainwave signal fusion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Thermal Infrared: </a:t>
            </a:r>
            <a:r>
              <a:rPr sz="950">
                <a:solidFill>
                  <a:srgbClr val="475569"/>
                </a:solidFill>
              </a:rPr>
              <a:t>Extreme low-light thermal facial recognition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C262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Custom NPU Hardware: </a:t>
            </a:r>
            <a:r>
              <a:rPr sz="950">
                <a:solidFill>
                  <a:srgbClr val="475569"/>
                </a:solidFill>
              </a:rPr>
              <a:t>Dedicated FPGA or TPU ASIC acceleration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Overall Methodological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Standardized workflow ensures full reproducibility and unbiased metric reporting across all 4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⚙️ Pipeline Architecture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Ingestion &amp; Splitting: </a:t>
            </a:r>
            <a:r>
              <a:rPr sz="950">
                <a:solidFill>
                  <a:srgbClr val="475569"/>
                </a:solidFill>
              </a:rPr>
              <a:t>80% train / 20% validation &amp; testing split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CLAHE Processing: </a:t>
            </a:r>
            <a:r>
              <a:rPr sz="950">
                <a:solidFill>
                  <a:srgbClr val="475569"/>
                </a:solidFill>
              </a:rPr>
              <a:t>Contrast enhancement on local 8x8 tiles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Multi-Depth Fusion: </a:t>
            </a:r>
            <a:r>
              <a:rPr sz="950">
                <a:solidFill>
                  <a:srgbClr val="475569"/>
                </a:solidFill>
              </a:rPr>
              <a:t>Extracts Block 3, 5 &amp; 7 feature maps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TFLite Compilation: </a:t>
            </a:r>
            <a:r>
              <a:rPr sz="950">
                <a:solidFill>
                  <a:srgbClr val="475569"/>
                </a:solidFill>
              </a:rPr>
              <a:t>Float16 quantized edge binary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Temporal HUD: </a:t>
            </a:r>
            <a:r>
              <a:rPr sz="950">
                <a:solidFill>
                  <a:srgbClr val="475569"/>
                </a:solidFill>
              </a:rPr>
              <a:t>5-frame sliding window smoothing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ficientne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End-to-End Methodological Architecture &amp; Feature Fusion Workflow  •  Source: Author Generated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Champion Architecture: Fused EfficientNet-B0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Multi-level fusion extracts Block 3, 5 &amp; 7 features to create a high-capacity 2192-D descriptor.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🏗️ Layer Blueprint &amp; Fusion Taps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Input Tensor: </a:t>
            </a:r>
            <a:r>
              <a:rPr sz="950">
                <a:solidFill>
                  <a:srgbClr val="475569"/>
                </a:solidFill>
              </a:rPr>
              <a:t>224 × 224 × 3 RGB resolution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Block 3 Tap (block3b_add): </a:t>
            </a:r>
            <a:r>
              <a:rPr sz="950">
                <a:solidFill>
                  <a:srgbClr val="475569"/>
                </a:solidFill>
              </a:rPr>
              <a:t>240 channels (micro-textures &amp; local landmarks)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Block 5 Tap (block5c_add): </a:t>
            </a:r>
            <a:r>
              <a:rPr sz="950">
                <a:solidFill>
                  <a:srgbClr val="475569"/>
                </a:solidFill>
              </a:rPr>
              <a:t>672 channels (mid-level facial geometry)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Block 7 Tap (top_conv): </a:t>
            </a:r>
            <a:r>
              <a:rPr sz="950">
                <a:solidFill>
                  <a:srgbClr val="475569"/>
                </a:solidFill>
              </a:rPr>
              <a:t>1280 channels (high-level abstract semantics)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Concatenation Layer: </a:t>
            </a:r>
            <a:r>
              <a:rPr sz="950">
                <a:solidFill>
                  <a:srgbClr val="475569"/>
                </a:solidFill>
              </a:rPr>
              <a:t>Concatenates 3 GAP outputs to form 2192-D fused vector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Mastery Head Stack: </a:t>
            </a:r>
            <a:r>
              <a:rPr sz="950">
                <a:solidFill>
                  <a:srgbClr val="475569"/>
                </a:solidFill>
              </a:rPr>
              <a:t>BN → Dropout(0.4) → Dense(512, ReLU) → BN → Dropout(0.2) → Dense(7, Softmax)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39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ficientne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4009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EfficientNet-B0 Architectural Execution Flowchart  •  Source: Author Generated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Runner-Up Architecture: YOLOv8 Feature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YOLOv8 leverages Cross-Stage Partial bottleneck C2f modules to achieve fast real-time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⚡ DarkNet C2f Classifier Backbone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Cross-Stage Bottlenecks: </a:t>
            </a:r>
            <a:r>
              <a:rPr sz="950">
                <a:solidFill>
                  <a:srgbClr val="475569"/>
                </a:solidFill>
              </a:rPr>
              <a:t>Splits gradient flow to maintain high feature reuse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Gradient Fusion: </a:t>
            </a:r>
            <a:r>
              <a:rPr sz="950">
                <a:solidFill>
                  <a:srgbClr val="475569"/>
                </a:solidFill>
              </a:rPr>
              <a:t>Enhances multi-scale representation while keeping FLOPs low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Classification Head: </a:t>
            </a:r>
            <a:r>
              <a:rPr sz="950">
                <a:solidFill>
                  <a:srgbClr val="475569"/>
                </a:solidFill>
              </a:rPr>
              <a:t>Global Average Pooling directly feeding 7-class linear layer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Real-Time Optimizations: </a:t>
            </a:r>
            <a:r>
              <a:rPr sz="950">
                <a:solidFill>
                  <a:srgbClr val="475569"/>
                </a:solidFill>
              </a:rPr>
              <a:t>Optimized for high-throughput frame processing (147.1 FPS)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39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yolo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4009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YOLOv8 Network Execution Blueprint  •  Source: Author Generated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Baseline Architectures: ResNet50 &amp; MobileNetV2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ResNet50 provides deep residual capacity while MobileNetV2 minimizes edge parameter footprint.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🧱 ResNet-50 Residual Architecture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Identity Shortcuts: </a:t>
            </a:r>
            <a:r>
              <a:rPr sz="950">
                <a:solidFill>
                  <a:srgbClr val="475569"/>
                </a:solidFill>
              </a:rPr>
              <a:t>Bypasses layers to avoid vanishing gradients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Deep Capacity: </a:t>
            </a:r>
            <a:r>
              <a:rPr sz="950">
                <a:solidFill>
                  <a:srgbClr val="475569"/>
                </a:solidFill>
              </a:rPr>
              <a:t>25.6 Million parameters across 50 conv layers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Final Tap: </a:t>
            </a:r>
            <a:r>
              <a:rPr sz="950">
                <a:solidFill>
                  <a:srgbClr val="475569"/>
                </a:solidFill>
              </a:rPr>
              <a:t>conv5_block3_out feeds Global Average Pooling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 Loss Profile: </a:t>
            </a:r>
            <a:r>
              <a:rPr sz="950">
                <a:solidFill>
                  <a:srgbClr val="475569"/>
                </a:solidFill>
              </a:rPr>
              <a:t>Slightly higher loss (0.3570) due to deep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📱 MobileNetV2 Inverted Bottleneck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Inverted Residuals: </a:t>
            </a:r>
            <a:r>
              <a:rPr sz="950">
                <a:solidFill>
                  <a:srgbClr val="475569"/>
                </a:solidFill>
              </a:rPr>
              <a:t>Expands to high dimensions before depthwise conv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Depthwise Convolutions: </a:t>
            </a:r>
            <a:r>
              <a:rPr sz="950">
                <a:solidFill>
                  <a:srgbClr val="475569"/>
                </a:solidFill>
              </a:rPr>
              <a:t>Drastically reduces compute FLOPs (0.30 GFLOPs)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Pointwise Conv_1: </a:t>
            </a:r>
            <a:r>
              <a:rPr sz="950">
                <a:solidFill>
                  <a:srgbClr val="475569"/>
                </a:solidFill>
              </a:rPr>
              <a:t>1280-D feature descriptor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Ultra-Lightweight: </a:t>
            </a:r>
            <a:r>
              <a:rPr sz="950">
                <a:solidFill>
                  <a:srgbClr val="475569"/>
                </a:solidFill>
              </a:rPr>
              <a:t>2.26 Million parameters (9.6MB size)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Curated Dataset Overview &amp; Distribution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Dataset contains 7,529 images; strict test evaluation reserved 1,050 balanced samples (150 per class).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286000"/>
                <a:gridCol w="1828800"/>
                <a:gridCol w="2773375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Emotion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Training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Testing Samples (Reserved)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Class Share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Imbalance Handling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Angry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Inverse Class Weighting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Disgust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460 (Minority)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Inverse Class Weighting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Fear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Inverse Class Weighting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15.86%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 Mapping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Inverse Class Weighting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Surprise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14.81%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Standard Mapping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Balanced Test Set (150/class)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Preprocessing &amp; CLAHE Image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CLAHE enhances local facial contrast without amplifying noise in homogeneous skin regions.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🧪 Preprocessing Operations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Resolution Standard: </a:t>
            </a:r>
            <a:r>
              <a:rPr sz="950">
                <a:solidFill>
                  <a:srgbClr val="475569"/>
                </a:solidFill>
              </a:rPr>
              <a:t>All raw face images scaled to 224 × 224 px (RGB)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CLAHE Equalization: </a:t>
            </a:r>
            <a:r>
              <a:rPr sz="950">
                <a:solidFill>
                  <a:srgbClr val="475569"/>
                </a:solidFill>
              </a:rPr>
              <a:t>Applied with clipLimit=2.0 and tileGridSize=(8,8)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Histogram Clipping: </a:t>
            </a:r>
            <a:r>
              <a:rPr sz="950">
                <a:solidFill>
                  <a:srgbClr val="475569"/>
                </a:solidFill>
              </a:rPr>
              <a:t>Redistributes excess intensity pixels across grey levels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Backbone Normalization: </a:t>
            </a:r>
            <a:r>
              <a:rPr sz="950">
                <a:solidFill>
                  <a:srgbClr val="475569"/>
                </a:solidFill>
              </a:rPr>
              <a:t>Scaled via backbone-native preprocessing functions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Hardware AUTOTUNE: </a:t>
            </a:r>
            <a:r>
              <a:rPr sz="950">
                <a:solidFill>
                  <a:srgbClr val="475569"/>
                </a:solidFill>
              </a:rPr>
              <a:t>Mapped using tf.data.AUTOTUNE with async prefetching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📐 Mathematical CLAHE Equations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Cumulative Distribution: </a:t>
            </a:r>
            <a:r>
              <a:rPr sz="950">
                <a:solidFill>
                  <a:srgbClr val="475569"/>
                </a:solidFill>
              </a:rPr>
              <a:t>s = T(r) = ∫ p_r(w) dw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Local Probability Density: </a:t>
            </a:r>
            <a:r>
              <a:rPr sz="950">
                <a:solidFill>
                  <a:srgbClr val="475569"/>
                </a:solidFill>
              </a:rPr>
              <a:t>n'_j = min(n_j, β) threshold clipping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Inverse Class Weights: </a:t>
            </a:r>
            <a:r>
              <a:rPr sz="950">
                <a:solidFill>
                  <a:srgbClr val="475569"/>
                </a:solidFill>
              </a:rPr>
              <a:t>w_c = N / (C × n_c) frequency balancing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Impact Analysis: </a:t>
            </a:r>
            <a:r>
              <a:rPr sz="950">
                <a:solidFill>
                  <a:srgbClr val="475569"/>
                </a:solidFill>
              </a:rPr>
              <a:t>Resolves uneven lighting and shadows around eyebrows and 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Augmentation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Augmentations introduce artificial variance during full fine-tuning to prevent overfitting.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🔄 Data Augmentation Pipeline Transformations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Random Horizontal Flipping: </a:t>
            </a:r>
            <a:r>
              <a:rPr sz="950">
                <a:solidFill>
                  <a:srgbClr val="475569"/>
                </a:solidFill>
              </a:rPr>
              <a:t>Simulates left/right facial orientation variations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Random Rotation (±11.5°): </a:t>
            </a:r>
            <a:r>
              <a:rPr sz="950">
                <a:solidFill>
                  <a:srgbClr val="475569"/>
                </a:solidFill>
              </a:rPr>
              <a:t>Handles minor head tilts during video acquisition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Random Contrast (factor 0.2): </a:t>
            </a:r>
            <a:r>
              <a:rPr sz="950">
                <a:solidFill>
                  <a:srgbClr val="475569"/>
                </a:solidFill>
              </a:rPr>
              <a:t>Simulates lighting changes and exposure shifts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Random Translation (factor 0.1): </a:t>
            </a:r>
            <a:r>
              <a:rPr sz="950">
                <a:solidFill>
                  <a:srgbClr val="475569"/>
                </a:solidFill>
              </a:rPr>
              <a:t>Simulates slight bounding box misalignment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Autotuned Async Prefetching: </a:t>
            </a:r>
            <a:r>
              <a:rPr sz="950">
                <a:solidFill>
                  <a:srgbClr val="475569"/>
                </a:solidFill>
              </a:rPr>
              <a:t>Mapped dynamically during batch loading to keep GPU/CPU fully saturated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Dual-Phase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Phase A trains the classification head; Phase B unfreezes backbone layers for high-precision fine-tuning.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🔹 Phase A: Coarse Head Tuning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Objective: </a:t>
            </a:r>
            <a:r>
              <a:rPr sz="950">
                <a:solidFill>
                  <a:srgbClr val="475569"/>
                </a:solidFill>
              </a:rPr>
              <a:t>Train randomly initialized mastery head weights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Strategy: </a:t>
            </a:r>
            <a:r>
              <a:rPr sz="950">
                <a:solidFill>
                  <a:srgbClr val="475569"/>
                </a:solidFill>
              </a:rPr>
              <a:t>Pre-trained backbone frozen completely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Learning Rate: </a:t>
            </a:r>
            <a:r>
              <a:rPr sz="950">
                <a:solidFill>
                  <a:srgbClr val="475569"/>
                </a:solidFill>
              </a:rPr>
              <a:t>Initial LR = 0.001 / 0.002 (Adam/SGD)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Epochs: </a:t>
            </a:r>
            <a:r>
              <a:rPr sz="950">
                <a:solidFill>
                  <a:srgbClr val="475569"/>
                </a:solidFill>
              </a:rPr>
              <a:t>10 coarse tuning epochs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Outcome: </a:t>
            </a:r>
            <a:r>
              <a:rPr sz="950">
                <a:solidFill>
                  <a:srgbClr val="475569"/>
                </a:solidFill>
              </a:rPr>
              <a:t>Stabilizes dense head before unfreezing convolution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🔹 Phase B: Selective Fine-Tuning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Objective: </a:t>
            </a:r>
            <a:r>
              <a:rPr sz="950">
                <a:solidFill>
                  <a:srgbClr val="475569"/>
                </a:solidFill>
              </a:rPr>
              <a:t>Adapt pre-trained conv filters to facial micro-expressions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Strategy: </a:t>
            </a:r>
            <a:r>
              <a:rPr sz="950">
                <a:solidFill>
                  <a:srgbClr val="475569"/>
                </a:solidFill>
              </a:rPr>
              <a:t>Unfreeze top conv blocks (e.g. top 20 layers)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Learning Rate: </a:t>
            </a:r>
            <a:r>
              <a:rPr sz="950">
                <a:solidFill>
                  <a:srgbClr val="475569"/>
                </a:solidFill>
              </a:rPr>
              <a:t>Reduced learning rate (1e-4 / 1e-5)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Callbacks: </a:t>
            </a:r>
            <a:r>
              <a:rPr sz="950">
                <a:solidFill>
                  <a:srgbClr val="475569"/>
                </a:solidFill>
              </a:rPr>
              <a:t>EarlyStopping(patience=10) + ReduceLROnPlateau(factor=0.1)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Outcome: </a:t>
            </a:r>
            <a:r>
              <a:rPr sz="950">
                <a:solidFill>
                  <a:srgbClr val="475569"/>
                </a:solidFill>
              </a:rPr>
              <a:t>Propels accuracy from ~78% to final 98.57% champion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Hyperparameter Grid Search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Grid search identified Learning Rate = 0.001 and Batch Size = 16 as the optimal champion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🎛️ Search Parameters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Learning Rates: </a:t>
            </a:r>
            <a:r>
              <a:rPr sz="950">
                <a:solidFill>
                  <a:srgbClr val="475569"/>
                </a:solidFill>
              </a:rPr>
              <a:t>[0.002, 0.001, 0.0001, 1e-5]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Batch Sizes: </a:t>
            </a:r>
            <a:r>
              <a:rPr sz="950">
                <a:solidFill>
                  <a:srgbClr val="475569"/>
                </a:solidFill>
              </a:rPr>
              <a:t>[8, 16, 32, 64]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Dropout Rates: </a:t>
            </a:r>
            <a:r>
              <a:rPr sz="950">
                <a:solidFill>
                  <a:srgbClr val="475569"/>
                </a:solidFill>
              </a:rPr>
              <a:t>[0.2, 0.3, 0.4, 0.5]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L2 Regularization: </a:t>
            </a:r>
            <a:r>
              <a:rPr sz="950">
                <a:solidFill>
                  <a:srgbClr val="475569"/>
                </a:solidFill>
              </a:rPr>
              <a:t>[1e-4, 1e-3, 0.01]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Optimal Trial: </a:t>
            </a:r>
            <a:r>
              <a:rPr sz="950">
                <a:solidFill>
                  <a:srgbClr val="475569"/>
                </a:solidFill>
              </a:rPr>
              <a:t>LR = 0.001, Batch Size =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ypert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Hyperparameter Sweep Response Surface Analysis  •  Source: Author Generated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Module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Integrated software modularity seamlessly connects data ingestion, training, quantization, and HUD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⚙️ Modular System Components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Data Ingestion Module (split_dataset.py): </a:t>
            </a:r>
            <a:r>
              <a:rPr sz="950">
                <a:solidFill>
                  <a:srgbClr val="475569"/>
                </a:solidFill>
              </a:rPr>
              <a:t>Handles dataset cleaning, PIL validation, and 80/20 train/test splitting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Training Engine (train_local.py): </a:t>
            </a:r>
            <a:r>
              <a:rPr sz="950">
                <a:solidFill>
                  <a:srgbClr val="475569"/>
                </a:solidFill>
              </a:rPr>
              <a:t>Implements multi-scale fusion, dual-phase callbacks, and model checkpointing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Quantization Engine (convert_tflite.py): </a:t>
            </a:r>
            <a:r>
              <a:rPr sz="950">
                <a:solidFill>
                  <a:srgbClr val="475569"/>
                </a:solidFill>
              </a:rPr>
              <a:t>Converts Keras models to Float16 TFLite binaries for edge execution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HUD Engine (inference_hud.py): </a:t>
            </a:r>
            <a:r>
              <a:rPr sz="950">
                <a:solidFill>
                  <a:srgbClr val="475569"/>
                </a:solidFill>
              </a:rPr>
              <a:t>Connects webcam feeds, OpenCV Haar Cascade face crops, CLAHE, and TFLite inference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Audit Suite (test_eval.py): </a:t>
            </a:r>
            <a:r>
              <a:rPr sz="950">
                <a:solidFill>
                  <a:srgbClr val="475569"/>
                </a:solidFill>
              </a:rPr>
              <a:t>Computes 49 evaluation metrics, Grad-CAM XAI, and visualization plots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Quantized Edge Deployment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Float16 TFLite quantization reduced model footprint by ~60% with zero loss in classification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⚡ Quantization Mechanics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Target Format: </a:t>
            </a:r>
            <a:r>
              <a:rPr sz="950">
                <a:solidFill>
                  <a:srgbClr val="475569"/>
                </a:solidFill>
              </a:rPr>
              <a:t>TensorFlow Lite Float16 binary (.tflite)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Weight Precision: </a:t>
            </a:r>
            <a:r>
              <a:rPr sz="950">
                <a:solidFill>
                  <a:srgbClr val="475569"/>
                </a:solidFill>
              </a:rPr>
              <a:t>32-bit floating point cast to 16-bit precision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Size Reduction: </a:t>
            </a:r>
            <a:r>
              <a:rPr sz="950">
                <a:solidFill>
                  <a:srgbClr val="475569"/>
                </a:solidFill>
              </a:rPr>
              <a:t>EfficientNetB0 model size dropped from 20.3MB to 8.4MB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Latency Acceleration: </a:t>
            </a:r>
            <a:r>
              <a:rPr sz="950">
                <a:solidFill>
                  <a:srgbClr val="475569"/>
                </a:solidFill>
              </a:rPr>
              <a:t>CPU inference accelerated to 11.0 ms / 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📊 Quantization Impact across Models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EfficientNetB0: </a:t>
            </a:r>
            <a:r>
              <a:rPr sz="950">
                <a:solidFill>
                  <a:srgbClr val="475569"/>
                </a:solidFill>
              </a:rPr>
              <a:t>20.3 MB → 8.4 MB TFLite (11.0 ms latency)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YOLOv8 Class: </a:t>
            </a:r>
            <a:r>
              <a:rPr sz="950">
                <a:solidFill>
                  <a:srgbClr val="475569"/>
                </a:solidFill>
              </a:rPr>
              <a:t>10.5 MB → 5.6 MB TFLite (6.8 ms latency)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ResNet50: </a:t>
            </a:r>
            <a:r>
              <a:rPr sz="950">
                <a:solidFill>
                  <a:srgbClr val="475569"/>
                </a:solidFill>
              </a:rPr>
              <a:t>97.8 MB → 23.5 MB TFLite (15.4 ms latency)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MobileNetV2: </a:t>
            </a:r>
            <a:r>
              <a:rPr sz="950">
                <a:solidFill>
                  <a:srgbClr val="475569"/>
                </a:solidFill>
              </a:rPr>
              <a:t>9.6 MB → 3.4 MB TFLite (5.9 ms latency)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Real-Time HUD Webcam Streaming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Real-time HUD combines Haar Cascade cropping, CLAHE normalization, and 5-frame temporal smoothing.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📹 Real-Time Video Stream Pipeline Steps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1 (Frame Capture): </a:t>
            </a:r>
            <a:r>
              <a:rPr sz="950">
                <a:solidFill>
                  <a:srgbClr val="475569"/>
                </a:solidFill>
              </a:rPr>
              <a:t>OpenCV captures live camera feed at 60 FPS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2 (Face Detection &amp; Crop): </a:t>
            </a:r>
            <a:r>
              <a:rPr sz="950">
                <a:solidFill>
                  <a:srgbClr val="475569"/>
                </a:solidFill>
              </a:rPr>
              <a:t>Haar Cascade classifier detects bounding box region around human faces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3 (Preprocess &amp; CLAHE): </a:t>
            </a:r>
            <a:r>
              <a:rPr sz="950">
                <a:solidFill>
                  <a:srgbClr val="475569"/>
                </a:solidFill>
              </a:rPr>
              <a:t>Bounding box cropped, resized to 224x224, and contrast enhanced via CLAHE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4 (TFLite Inference): </a:t>
            </a:r>
            <a:r>
              <a:rPr sz="950">
                <a:solidFill>
                  <a:srgbClr val="475569"/>
                </a:solidFill>
              </a:rPr>
              <a:t>Executed via tf.lite.Interpreter in 11ms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5 (Temporal Smoothing): </a:t>
            </a:r>
            <a:r>
              <a:rPr sz="950">
                <a:solidFill>
                  <a:srgbClr val="475569"/>
                </a:solidFill>
              </a:rPr>
              <a:t>Sliding window of size 5 averages probability vectors, suppressing output jitter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Step 6 (HUD Render): </a:t>
            </a:r>
            <a:r>
              <a:rPr sz="950">
                <a:solidFill>
                  <a:srgbClr val="475569"/>
                </a:solidFill>
              </a:rPr>
              <a:t>Overlays bounding box, top predicted emotion label, and confidence score on live video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 Stack &amp; Hardware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Pipeline optimized for CPU Ryzen 7 Hyper-Velocity execution utilizing Python 3.10 and TensorFlow 2.15.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1371600"/>
                <a:gridCol w="4602175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Software / Library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Hardware / System Setup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Deep Learning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TensorFlow / Keras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v2.15.0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CPU Ryzen 7 Hyper-Velocity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YOLO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Ultralytics PyTorch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v8.1.0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Multi-Threaded CPU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Edge Acceleration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TensorFlow Lite Interpreter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v2.15.0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Float16 SIMD CPU Vectorization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Vision &amp;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OpenCV / Pillow (PIL) / CLAHE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v4.9.0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OpenCL Acceleration 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Audit &amp; Visuals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Scikit-Learn / Matplotlib / Seaborn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v1.4.0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Automated Benchmark Generators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Master Consolidated 49-Metric Evaluation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Fused EfficientNet-B0 dominates the ecosystem across accuracy, F1-score, log loss, and correlation indices.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57400"/>
                <a:gridCol w="2057400"/>
                <a:gridCol w="2057400"/>
                <a:gridCol w="2057400"/>
              </a:tblGrid>
              <a:tr h="39069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EfficientNet-B0 (🏆)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YOLOv8 Class (Runner-up)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MobileNetV2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Testing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98.57%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Precision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Recall (Macro)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F1-Score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Specificity (Macro)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0.9976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0.9892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Cohen's Kappa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0.9833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AUC-ROC (OVR)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0.9984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Logarithmic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0.2186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Matthews Corr. (MCC)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0.9834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0.9245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CPU Latency /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11.0 ms / 20.3 MB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6.8 ms / 10.5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15.4 ms / 97.8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5.9 ms / 9.6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1: Fused EfficientNet-B0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EfficientNet-B0 achieved near-flawless diagonal isolation with only 15 errors out of 1,050 test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🏆 Performance Audit Highlights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Testing Accuracy: </a:t>
            </a:r>
            <a:r>
              <a:rPr sz="950">
                <a:solidFill>
                  <a:srgbClr val="475569"/>
                </a:solidFill>
              </a:rPr>
              <a:t>98.57% (1,035 / 1,050 correct)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Precision / Recall: </a:t>
            </a:r>
            <a:r>
              <a:rPr sz="950">
                <a:solidFill>
                  <a:srgbClr val="475569"/>
                </a:solidFill>
              </a:rPr>
              <a:t>0.9859 / 0.9857 (Macro)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F1-Score / Specificity: </a:t>
            </a:r>
            <a:r>
              <a:rPr sz="950">
                <a:solidFill>
                  <a:srgbClr val="475569"/>
                </a:solidFill>
              </a:rPr>
              <a:t>0.9857 / 0.9976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Logarithmic Loss: </a:t>
            </a:r>
            <a:r>
              <a:rPr sz="950">
                <a:solidFill>
                  <a:srgbClr val="475569"/>
                </a:solidFill>
              </a:rPr>
              <a:t>0.2186 (Lowest probabilistic loss)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MCC / Kappa Index: </a:t>
            </a:r>
            <a:r>
              <a:rPr sz="950">
                <a:solidFill>
                  <a:srgbClr val="475569"/>
                </a:solidFill>
              </a:rPr>
              <a:t>0.9834 / 0.9833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Happy Class: </a:t>
            </a:r>
            <a:r>
              <a:rPr sz="950">
                <a:solidFill>
                  <a:srgbClr val="475569"/>
                </a:solidFill>
              </a:rPr>
              <a:t>100% perfect recall (150/150)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Fear Class: </a:t>
            </a:r>
            <a:r>
              <a:rPr sz="950">
                <a:solidFill>
                  <a:srgbClr val="475569"/>
                </a:solidFill>
              </a:rPr>
              <a:t>100% perfect precision (148/148)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ficientne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EfficientNet-B0 Confusion Matrix Report  •  Source: Author Generated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2: YOLOv8 Results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YOLOv8 achieved 95.52% accuracy with ultra-fast 6.8ms CPU latency, making it ideal for video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⚡ Performance Audit Highlights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Testing Accuracy: </a:t>
            </a:r>
            <a:r>
              <a:rPr sz="950">
                <a:solidFill>
                  <a:srgbClr val="475569"/>
                </a:solidFill>
              </a:rPr>
              <a:t>95.52% (1,003 / 1,050 correct)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Precision / Recall: </a:t>
            </a:r>
            <a:r>
              <a:rPr sz="950">
                <a:solidFill>
                  <a:srgbClr val="475569"/>
                </a:solidFill>
              </a:rPr>
              <a:t>0.9553 / 0.9552 (Macro)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F1-Score / Specificity: </a:t>
            </a:r>
            <a:r>
              <a:rPr sz="950">
                <a:solidFill>
                  <a:srgbClr val="475569"/>
                </a:solidFill>
              </a:rPr>
              <a:t>0.9552 / 0.9925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Logarithmic Loss: </a:t>
            </a:r>
            <a:r>
              <a:rPr sz="950">
                <a:solidFill>
                  <a:srgbClr val="475569"/>
                </a:solidFill>
              </a:rPr>
              <a:t>0.3063 (Strong confidence)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MCC / Kappa Index: </a:t>
            </a:r>
            <a:r>
              <a:rPr sz="950">
                <a:solidFill>
                  <a:srgbClr val="475569"/>
                </a:solidFill>
              </a:rPr>
              <a:t>0.9478 / 0.9478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Surprise Class: </a:t>
            </a:r>
            <a:r>
              <a:rPr sz="950">
                <a:solidFill>
                  <a:srgbClr val="475569"/>
                </a:solidFill>
              </a:rPr>
              <a:t>Highest F1 score (0.974)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Disgust Class: </a:t>
            </a:r>
            <a:r>
              <a:rPr sz="950">
                <a:solidFill>
                  <a:srgbClr val="475569"/>
                </a:solidFill>
              </a:rPr>
              <a:t>High recall retrieval (0.960)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yolo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YOLOv8 Confusion Matrix Report  •  Source: Author Generated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3: ResNet50 Results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ResNet50 converged at 94.57% accuracy, though deeper layers caused slightly higher log loss (0.3570).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🧱 Performance Audit Highlights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Testing Accuracy: </a:t>
            </a:r>
            <a:r>
              <a:rPr sz="950">
                <a:solidFill>
                  <a:srgbClr val="475569"/>
                </a:solidFill>
              </a:rPr>
              <a:t>94.57% (993 / 1,050 correct)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Precision / Recall: </a:t>
            </a:r>
            <a:r>
              <a:rPr sz="950">
                <a:solidFill>
                  <a:srgbClr val="475569"/>
                </a:solidFill>
              </a:rPr>
              <a:t>0.9462 / 0.9457 (Macro)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F1-Score / Specificity: </a:t>
            </a:r>
            <a:r>
              <a:rPr sz="950">
                <a:solidFill>
                  <a:srgbClr val="475569"/>
                </a:solidFill>
              </a:rPr>
              <a:t>0.9458 / 0.9910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Logarithmic Loss: </a:t>
            </a:r>
            <a:r>
              <a:rPr sz="950">
                <a:solidFill>
                  <a:srgbClr val="475569"/>
                </a:solidFill>
              </a:rPr>
              <a:t>0.3570 (Moderate confidence)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MCC / Kappa Index: </a:t>
            </a:r>
            <a:r>
              <a:rPr sz="950">
                <a:solidFill>
                  <a:srgbClr val="475569"/>
                </a:solidFill>
              </a:rPr>
              <a:t>0.9367 / 0.9367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Fear Class: </a:t>
            </a:r>
            <a:r>
              <a:rPr sz="950">
                <a:solidFill>
                  <a:srgbClr val="475569"/>
                </a:solidFill>
              </a:rPr>
              <a:t>Highest recall rate (0.973)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Happy Class: </a:t>
            </a:r>
            <a:r>
              <a:rPr sz="950">
                <a:solidFill>
                  <a:srgbClr val="475569"/>
                </a:solidFill>
              </a:rPr>
              <a:t>Highest precision (0.965)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sne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ResNet50 Confusion Matrix Report  •  Source: Author Generated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4: MobileNetV2 Results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MobileNetV2 breached its 93.0% mandate at 93.52% accuracy with the lowest parameter footprint (2.26M).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📱 Performance Audit Highlights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Testing Accuracy: </a:t>
            </a:r>
            <a:r>
              <a:rPr sz="950">
                <a:solidFill>
                  <a:srgbClr val="475569"/>
                </a:solidFill>
              </a:rPr>
              <a:t>93.52% (982 / 1,050 correct)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Precision / Recall: </a:t>
            </a:r>
            <a:r>
              <a:rPr sz="950">
                <a:solidFill>
                  <a:srgbClr val="475569"/>
                </a:solidFill>
              </a:rPr>
              <a:t>0.9359 / 0.9352 (Macro)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F1-Score / Specificity: </a:t>
            </a:r>
            <a:r>
              <a:rPr sz="950">
                <a:solidFill>
                  <a:srgbClr val="475569"/>
                </a:solidFill>
              </a:rPr>
              <a:t>0.9353 / 0.9892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Logarithmic Loss: </a:t>
            </a:r>
            <a:r>
              <a:rPr sz="950">
                <a:solidFill>
                  <a:srgbClr val="475569"/>
                </a:solidFill>
              </a:rPr>
              <a:t>0.3533 (Acceptable confidence)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MCC / Kappa Index: </a:t>
            </a:r>
            <a:r>
              <a:rPr sz="950">
                <a:solidFill>
                  <a:srgbClr val="475569"/>
                </a:solidFill>
              </a:rPr>
              <a:t>0.9245 / 0.9244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Sad Class: </a:t>
            </a:r>
            <a:r>
              <a:rPr sz="950">
                <a:solidFill>
                  <a:srgbClr val="475569"/>
                </a:solidFill>
              </a:rPr>
              <a:t>Highest precision score (0.979)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Fear Class: </a:t>
            </a:r>
            <a:r>
              <a:rPr sz="950">
                <a:solidFill>
                  <a:srgbClr val="475569"/>
                </a:solidFill>
              </a:rPr>
              <a:t>Highest recall retrieval (0.953)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ne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MobileNetV2 Confusion Matrix Report  •  Source: Author Generated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Multi-Model Convergence Trajectory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All 4 models exhibit stable logarithmic loss decay and monotonic accuracy convergence across epochs.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📈 Trajectory Highlights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Loss Decay: </a:t>
            </a:r>
            <a:r>
              <a:rPr sz="950">
                <a:solidFill>
                  <a:srgbClr val="475569"/>
                </a:solidFill>
              </a:rPr>
              <a:t>Smooth logarithmic loss reduction across all training runs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Generalization Gap: </a:t>
            </a:r>
            <a:r>
              <a:rPr sz="950">
                <a:solidFill>
                  <a:srgbClr val="475569"/>
                </a:solidFill>
              </a:rPr>
              <a:t>Low variance between train and val loss curves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Stability: </a:t>
            </a:r>
            <a:r>
              <a:rPr sz="950">
                <a:solidFill>
                  <a:srgbClr val="475569"/>
                </a:solidFill>
              </a:rPr>
              <a:t>Early stopping prevented late-stage overfitting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Phase Jump: </a:t>
            </a:r>
            <a:r>
              <a:rPr sz="950">
                <a:solidFill>
                  <a:srgbClr val="475569"/>
                </a:solidFill>
              </a:rPr>
              <a:t>Phase B unfreezing caused rapid accuracy leaps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verge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Multi-Model Training &amp; Validation Convergence Trajectories  •  Source: Author Generated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Per-Class F1-Score Performance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Per-class F1-scores confirm consistent representation without minority class degradation.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🔥 Heatmap Observations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Minority Class Disgust: </a:t>
            </a:r>
            <a:r>
              <a:rPr sz="950">
                <a:solidFill>
                  <a:srgbClr val="475569"/>
                </a:solidFill>
              </a:rPr>
              <a:t>Achieved 0.983 F1-score on EfficientNet-B0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Happy Class Dominance: </a:t>
            </a:r>
            <a:r>
              <a:rPr sz="950">
                <a:solidFill>
                  <a:srgbClr val="475569"/>
                </a:solidFill>
              </a:rPr>
              <a:t>Consistently &gt;0.94 F1 across all 4 architectures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Sad / Neutral Boundary: </a:t>
            </a:r>
            <a:r>
              <a:rPr sz="950">
                <a:solidFill>
                  <a:srgbClr val="475569"/>
                </a:solidFill>
              </a:rPr>
              <a:t>Slightly lower score due to flat facial geometry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Surprise Robustness: </a:t>
            </a:r>
            <a:r>
              <a:rPr sz="950">
                <a:solidFill>
                  <a:srgbClr val="475569"/>
                </a:solidFill>
              </a:rPr>
              <a:t>Jaw drop (AU26) yields strong performance (&gt;0.92)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rcla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Per-Class Macro-Averaged F1-Score Performance Heatmap  •  Source: Author Generated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Explainable AI (XAI) — Grad-CAM &amp; Occlusion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Grad-CAM and Occlusion heatmaps verify model focus on biological eye and mouth Action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👁️ Spatial Audit Verification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Grad-CAM Focus: </a:t>
            </a:r>
            <a:r>
              <a:rPr sz="950">
                <a:solidFill>
                  <a:srgbClr val="475569"/>
                </a:solidFill>
              </a:rPr>
              <a:t>Concentrated specifically around eyebrow and lip regions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Occlusion Sensitivity: </a:t>
            </a:r>
            <a:r>
              <a:rPr sz="950">
                <a:solidFill>
                  <a:srgbClr val="475569"/>
                </a:solidFill>
              </a:rPr>
              <a:t>32x32 patch occlusion causes &gt;75% confidence drop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Validity: </a:t>
            </a:r>
            <a:r>
              <a:rPr sz="950">
                <a:solidFill>
                  <a:srgbClr val="475569"/>
                </a:solidFill>
              </a:rPr>
              <a:t>Directly aligns with FACS Action Units AU4 &amp; AU12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Background Suppression: </a:t>
            </a:r>
            <a:r>
              <a:rPr sz="950">
                <a:solidFill>
                  <a:srgbClr val="475569"/>
                </a:solidFill>
              </a:rPr>
              <a:t>Ignores background artifacts and hair textures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ficientnet_xai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Grad-CAM &amp; Occlusion Sensitivity Composite XAI Audit Report  •  Source: Author Generated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YOLOv8 9-Stage Feature Map Abstraction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Feature map file sizes shrink progressively (548KB → 20KB), confirming hierarchical representation compression.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3200400"/>
                <a:gridCol w="1645920"/>
                <a:gridCol w="2864815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Layer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Feature Representation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File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Stage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Fine-grained edges &amp; raw textures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548 KB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Captures micro facial contours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Stage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C2f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Cross-stage partial fused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338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Combines shallow edge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Stage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C2f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Mid-level facial geometry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115 KB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Encodes eye &amp; mouth structures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Stage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C2f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Dense semantic feature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41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High-level expression abstraction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Stage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C2f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Final classification descriptor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20 KB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Feeds linear classification 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 Augmentation Ablation Study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Omitting augmentations during short sharded classifier head tuning speeds up convergence due to lower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1828800"/>
                <a:gridCol w="2407615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Standard Augmentation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No-Augmentation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 Delta (Δ)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Impact &amp; Scientific Finding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EfficientNetB0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92.65%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-5.92%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Moderate sensitivity to spatial augmentation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YOLOv8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-1.00%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Highly stable backbone under sharded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84.38%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-10.19%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 sensitivity to heavy regularization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MobileNetV2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-2.96%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Good feature retention in low-epoch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Computational Efficiency &amp; CPU Latency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MobileNetV2 and YOLOv8 deliver sub-7ms latency while EfficientNet-B0 offers the best accuracy/parameter ratio.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⚡ Efficiency Analysis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MobileNetV2: </a:t>
            </a:r>
            <a:r>
              <a:rPr sz="950">
                <a:solidFill>
                  <a:srgbClr val="475569"/>
                </a:solidFill>
              </a:rPr>
              <a:t>5.9 ms latency | 2.26M parameters | 9.6MB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YOLOv8 Class: </a:t>
            </a:r>
            <a:r>
              <a:rPr sz="950">
                <a:solidFill>
                  <a:srgbClr val="475569"/>
                </a:solidFill>
              </a:rPr>
              <a:t>6.8 ms latency | 2.72M parameters | 10.5MB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EfficientNetB0: </a:t>
            </a:r>
            <a:r>
              <a:rPr sz="950">
                <a:solidFill>
                  <a:srgbClr val="475569"/>
                </a:solidFill>
              </a:rPr>
              <a:t>11.0 ms latency | 5.33M parameters | 20.3MB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ResNet50: </a:t>
            </a:r>
            <a:r>
              <a:rPr sz="950">
                <a:solidFill>
                  <a:srgbClr val="475569"/>
                </a:solidFill>
              </a:rPr>
              <a:t>15.4 ms latency | 25.64M parameters | 97.8MB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fici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Hardware Latency vs Physical Parameter Sizing Limits  •  Source: Author Generated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Radar Chart &amp; Multi-Dimensional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Radar plot highlights Fused EfficientNet-B0 as the undisputed top performer across all metric axes.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📊 Multi-Axis Dominance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Accuracy Axis: </a:t>
            </a:r>
            <a:r>
              <a:rPr sz="950">
                <a:solidFill>
                  <a:srgbClr val="475569"/>
                </a:solidFill>
              </a:rPr>
              <a:t>EfficientNet-B0 leads at 98.57%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Log Loss Axis: </a:t>
            </a:r>
            <a:r>
              <a:rPr sz="950">
                <a:solidFill>
                  <a:srgbClr val="475569"/>
                </a:solidFill>
              </a:rPr>
              <a:t>EfficientNet-B0 leads at 0.2186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Correlation Axis: </a:t>
            </a:r>
            <a:r>
              <a:rPr sz="950">
                <a:solidFill>
                  <a:srgbClr val="475569"/>
                </a:solidFill>
              </a:rPr>
              <a:t>MCC = 0.9834 | Kappa = 0.9833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Latency Axis: </a:t>
            </a:r>
            <a:r>
              <a:rPr sz="950">
                <a:solidFill>
                  <a:srgbClr val="475569"/>
                </a:solidFill>
              </a:rPr>
              <a:t>MobileNetV2 leads at 5.9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4114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39"/>
            <a:ext cx="6400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da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5340096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FIGURE: Multi-Dimensional Performance Indicators Radar Summary Chart  •  Source: Author Generated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6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Results Interpretation &amp;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Multi-scale feature fusion solves the fundamental trade-off between spatial detail and semantic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💡 Core Empirical Findings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Fusion Superiority: </a:t>
            </a:r>
            <a:r>
              <a:rPr sz="950">
                <a:solidFill>
                  <a:srgbClr val="475569"/>
                </a:solidFill>
              </a:rPr>
              <a:t>Fused EfficientNet-B0 outperformed single-scale baselines by +3.05% to +5.05% accuracy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Low Log Loss: </a:t>
            </a:r>
            <a:r>
              <a:rPr sz="950">
                <a:solidFill>
                  <a:srgbClr val="475569"/>
                </a:solidFill>
              </a:rPr>
              <a:t>EfficientNet-B0 log loss (0.2186) proves superior probability confidence over ResNet50 (0.3570)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Minority Capture: </a:t>
            </a:r>
            <a:r>
              <a:rPr sz="950">
                <a:solidFill>
                  <a:srgbClr val="475569"/>
                </a:solidFill>
              </a:rPr>
              <a:t>Disgust class achieved 0.983 F1-score despite having only 460 training images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Zero Quantization Drop: </a:t>
            </a:r>
            <a:r>
              <a:rPr sz="950">
                <a:solidFill>
                  <a:srgbClr val="475569"/>
                </a:solidFill>
              </a:rPr>
              <a:t>Float16 TFLite conversion maintained 98.57% test accuracy without degradation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🔬 Confusion Pattern Analysis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Angry vs Sad Overlap: </a:t>
            </a:r>
            <a:r>
              <a:rPr sz="950">
                <a:solidFill>
                  <a:srgbClr val="475569"/>
                </a:solidFill>
              </a:rPr>
              <a:t>Shared facial indicators (flat lips, eyebrow contraction) caused minor overlap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Sad vs Neutral Overlap: </a:t>
            </a:r>
            <a:r>
              <a:rPr sz="950">
                <a:solidFill>
                  <a:srgbClr val="475569"/>
                </a:solidFill>
              </a:rPr>
              <a:t>Slight mouth flatness causes occasional neutral misclassification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Happy Isolation: </a:t>
            </a:r>
            <a:r>
              <a:rPr sz="950">
                <a:solidFill>
                  <a:srgbClr val="475569"/>
                </a:solidFill>
              </a:rPr>
              <a:t>Happy class achieved near-100% precision/recall across all 4 architectures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Surprise Distinction: </a:t>
            </a:r>
            <a:r>
              <a:rPr sz="950">
                <a:solidFill>
                  <a:srgbClr val="475569"/>
                </a:solidFill>
              </a:rPr>
              <a:t>Open jaw geometry (AU26) yielded high separability across all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6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Theoretical &amp; Architectural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Demonstrated that intermediate feature taps from MBConv blocks preserve micro-expression landmarks.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🏛️ Theoretical Paradigm Advances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Multi-Depth Representation: </a:t>
            </a:r>
            <a:r>
              <a:rPr sz="950">
                <a:solidFill>
                  <a:srgbClr val="475569"/>
                </a:solidFill>
              </a:rPr>
              <a:t>Proved that shallow block taps retain spatial Action Units that GAP normally discards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Regularized Bottleneck Design: </a:t>
            </a:r>
            <a:r>
              <a:rPr sz="950">
                <a:solidFill>
                  <a:srgbClr val="475569"/>
                </a:solidFill>
              </a:rPr>
              <a:t>Dual-dropout (0.4 + 0.2) + Batch Normalization prevents fused vector overparameterization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Ablation Variance Dynamics: </a:t>
            </a:r>
            <a:r>
              <a:rPr sz="950">
                <a:solidFill>
                  <a:srgbClr val="475569"/>
                </a:solidFill>
              </a:rPr>
              <a:t>Established that augmentation introduces high variance on sharded classifier head tuning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XAI Alignment: </a:t>
            </a:r>
            <a:r>
              <a:rPr sz="950">
                <a:solidFill>
                  <a:srgbClr val="475569"/>
                </a:solidFill>
              </a:rPr>
              <a:t>Verified that deep gradient activations align directly with FACS biological Action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6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Industrial, Real-Time Edge &amp; Clinical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Enables zero-cloud-dependency, privacy-preserving edge deployment across automotive, clinical, and robotics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🚘 Automotive &amp; Driver Safety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Drowsiness Detection: </a:t>
            </a:r>
            <a:r>
              <a:rPr sz="950">
                <a:solidFill>
                  <a:srgbClr val="475569"/>
                </a:solidFill>
              </a:rPr>
              <a:t>Real-time tracking of fatigue and micro-sleep expressions at 60+ FPS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Agitation Screening: </a:t>
            </a:r>
            <a:r>
              <a:rPr sz="950">
                <a:solidFill>
                  <a:srgbClr val="475569"/>
                </a:solidFill>
              </a:rPr>
              <a:t>Detects driver anger and road rage indicators under 11ms latency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Local CPU Execution: </a:t>
            </a:r>
            <a:r>
              <a:rPr sz="950">
                <a:solidFill>
                  <a:srgbClr val="475569"/>
                </a:solidFill>
              </a:rPr>
              <a:t>Runs on standard in-vehicle CPUs without requiring dedicated cloud connections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🏥 Clinical &amp; Assistive Tech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Tele-Psychiatry Assessment: </a:t>
            </a:r>
            <a:r>
              <a:rPr sz="950">
                <a:solidFill>
                  <a:srgbClr val="475569"/>
                </a:solidFill>
              </a:rPr>
              <a:t>Objective temporal tracking of patient mood states during sessions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Autism Assistive HUD: </a:t>
            </a:r>
            <a:r>
              <a:rPr sz="950">
                <a:solidFill>
                  <a:srgbClr val="475569"/>
                </a:solidFill>
              </a:rPr>
              <a:t>Real-time feedback HUD assisting individuals with emotion recognition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Privacy Compliance: </a:t>
            </a:r>
            <a:r>
              <a:rPr sz="950">
                <a:solidFill>
                  <a:srgbClr val="475569"/>
                </a:solidFill>
              </a:rPr>
              <a:t>On-device TFLite processing ensures facial video never leaves local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6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Policy, Ethics, Privacy &amp; Societal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On-device processing complies with GDPR and HIPAA privacy standards by eliminating cloud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🛡️ Ethical AI &amp; Privacy Governance Framework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Local On-Device Inference: </a:t>
            </a:r>
            <a:r>
              <a:rPr sz="950">
                <a:solidFill>
                  <a:srgbClr val="475569"/>
                </a:solidFill>
              </a:rPr>
              <a:t>Eliminates biometric facial image transmission over public network streams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GDPR &amp; HIPAA Compliance: </a:t>
            </a:r>
            <a:r>
              <a:rPr sz="950">
                <a:solidFill>
                  <a:srgbClr val="475569"/>
                </a:solidFill>
              </a:rPr>
              <a:t>Ensures full user data sovereignty; raw video frames purged immediately from memory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Bias Mitigation Protocol: </a:t>
            </a:r>
            <a:r>
              <a:rPr sz="950">
                <a:solidFill>
                  <a:srgbClr val="475569"/>
                </a:solidFill>
              </a:rPr>
              <a:t>Inverse class weighting prevents model discrimination against minority emotion classes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Transparent XAI Auditing: </a:t>
            </a:r>
            <a:r>
              <a:rPr sz="950">
                <a:solidFill>
                  <a:srgbClr val="475569"/>
                </a:solidFill>
              </a:rPr>
              <a:t>Grad-CAM verification ensures decisions are based on facial AUs, avoiding demographic bias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Limitations &amp; Technical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Current limitations focus on 2D image inputs, CPU execution bounds, and 7 discrete emotion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⚠️ Identified System Constraints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2D Input Only: </a:t>
            </a:r>
            <a:r>
              <a:rPr sz="950">
                <a:solidFill>
                  <a:srgbClr val="475569"/>
                </a:solidFill>
              </a:rPr>
              <a:t>Lacks 3D depth sensor data for extreme head rotation angles (&gt;45°)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Discrete Categories: </a:t>
            </a:r>
            <a:r>
              <a:rPr sz="950">
                <a:solidFill>
                  <a:srgbClr val="475569"/>
                </a:solidFill>
              </a:rPr>
              <a:t>Evaluates 7 discrete classes rather than continuous Valence-Arousal space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CPU Benchmark Scope: </a:t>
            </a:r>
            <a:r>
              <a:rPr sz="950">
                <a:solidFill>
                  <a:srgbClr val="475569"/>
                </a:solidFill>
              </a:rPr>
              <a:t>Primary latency benchmarks profiled on CPU Ryzen 7 architecture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Static Snapshots: </a:t>
            </a:r>
            <a:r>
              <a:rPr sz="950">
                <a:solidFill>
                  <a:srgbClr val="475569"/>
                </a:solidFill>
              </a:rPr>
              <a:t>Evaluates individual frames rather than 3D temporal video convolutions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🎯 Mitigating Factors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CLAHE Robustness: </a:t>
            </a:r>
            <a:r>
              <a:rPr sz="950">
                <a:solidFill>
                  <a:srgbClr val="475569"/>
                </a:solidFill>
              </a:rPr>
              <a:t>Mitigates extreme lighting variations in 2D RGB frames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Temporal Smoothing: </a:t>
            </a:r>
            <a:r>
              <a:rPr sz="950">
                <a:solidFill>
                  <a:srgbClr val="475569"/>
                </a:solidFill>
              </a:rPr>
              <a:t>5-frame sliding window suppresses single-frame classification jitter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TFLite Optimization: </a:t>
            </a:r>
            <a:r>
              <a:rPr sz="950">
                <a:solidFill>
                  <a:srgbClr val="475569"/>
                </a:solidFill>
              </a:rPr>
              <a:t>Ensures sub-12ms execution even without dedicated GPU hardware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563EB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High Generalization: </a:t>
            </a:r>
            <a:r>
              <a:rPr sz="950">
                <a:solidFill>
                  <a:srgbClr val="475569"/>
                </a:solidFill>
              </a:rPr>
              <a:t>Low generalization gap (0.53%) confirms robust feature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Future Scope &amp; Next-Gen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Future work will inject 468 MediaPipe facial landmarks, ConvNeXt ensembles, and INT8 QAT quantization.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🚀 Technical Expansion Roadmap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Geometric Landmark Injection: </a:t>
            </a:r>
            <a:r>
              <a:rPr sz="950">
                <a:solidFill>
                  <a:srgbClr val="475569"/>
                </a:solidFill>
              </a:rPr>
              <a:t>Combine 468 MediaPipe facial landmark coordinates with pixel feature maps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Neural Stacking Ensemble: </a:t>
            </a:r>
            <a:r>
              <a:rPr sz="950">
                <a:solidFill>
                  <a:srgbClr val="475569"/>
                </a:solidFill>
              </a:rPr>
              <a:t>Ensemble Fused EfficientNet-B0 with ConvNeXt-Tiny predictions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Quantization-Aware Training: </a:t>
            </a:r>
            <a:r>
              <a:rPr sz="950">
                <a:solidFill>
                  <a:srgbClr val="475569"/>
                </a:solidFill>
              </a:rPr>
              <a:t>Simulate INT8 precision during training for micro-edge MCUs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Continuous Affect Mapping: </a:t>
            </a:r>
            <a:r>
              <a:rPr sz="950">
                <a:solidFill>
                  <a:srgbClr val="475569"/>
                </a:solidFill>
              </a:rPr>
              <a:t>Extend prediction head to continuous Valence and Arousal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📱 Next-Gen Deployment Targets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Mobile App Native Integration: </a:t>
            </a:r>
            <a:r>
              <a:rPr sz="950">
                <a:solidFill>
                  <a:srgbClr val="475569"/>
                </a:solidFill>
              </a:rPr>
              <a:t>Android / iOS native TFLite SDK embedding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Wearable Smart Glasses: </a:t>
            </a:r>
            <a:r>
              <a:rPr sz="950">
                <a:solidFill>
                  <a:srgbClr val="475569"/>
                </a:solidFill>
              </a:rPr>
              <a:t>Ultra-low-power micro-node deployment for real-time social assistance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Robot Operating System: </a:t>
            </a:r>
            <a:r>
              <a:rPr sz="950">
                <a:solidFill>
                  <a:srgbClr val="475569"/>
                </a:solidFill>
              </a:rPr>
              <a:t>ROS2 integration with autonomous social robots for human-robot interaction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Final Conclusion &amp; Defense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All thesis objectives achieved: 98.57% champion accuracy, 11ms latency, 49 audited metrics, production converged.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🏆 Summary of Thesis Achievements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Mandate Exceeded: </a:t>
            </a:r>
            <a:r>
              <a:rPr sz="950">
                <a:solidFill>
                  <a:srgbClr val="475569"/>
                </a:solidFill>
              </a:rPr>
              <a:t>Fused EfficientNet-B0 achieved 98.57% test accuracy, exceeding the 98.0% mandate target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Real-Time Edge Latency: </a:t>
            </a:r>
            <a:r>
              <a:rPr sz="950">
                <a:solidFill>
                  <a:srgbClr val="475569"/>
                </a:solidFill>
              </a:rPr>
              <a:t>Float16 TFLite model executes in 11.0ms on CPU, sustaining 60+ FPS live HUD streams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Comprehensive Audit: </a:t>
            </a:r>
            <a:r>
              <a:rPr sz="950">
                <a:solidFill>
                  <a:srgbClr val="475569"/>
                </a:solidFill>
              </a:rPr>
              <a:t>Audited 49 standardized metrics across 4 models (EfficientNet, YOLOv8, ResNet, MobileNet)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Anatomical Explainability: </a:t>
            </a:r>
            <a:r>
              <a:rPr sz="950">
                <a:solidFill>
                  <a:srgbClr val="475569"/>
                </a:solidFill>
              </a:rPr>
              <a:t>Grad-CAM and Occlusion maps confirm reliance on biological Action Units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• </a:t>
            </a:r>
            <a:r>
              <a:rPr sz="1000" b="1">
                <a:solidFill>
                  <a:srgbClr val="0F172A"/>
                </a:solidFill>
              </a:rPr>
              <a:t>Final Ecosystem Status: </a:t>
            </a:r>
            <a:r>
              <a:rPr sz="950">
                <a:solidFill>
                  <a:srgbClr val="475569"/>
                </a:solidFill>
              </a:rPr>
              <a:t>All 4 architectures successfully converged to production-ready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1072865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Questions &amp; PhD Thesis Defense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474720"/>
            <a:ext cx="85340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📧 Project Documentation &amp; Artifact References</a:t>
            </a:r>
          </a:p>
          <a:p>
            <a:pPr algn="ctr">
              <a:defRPr sz="1100">
                <a:solidFill>
                  <a:srgbClr val="E2E8F0"/>
                </a:solidFill>
              </a:defRPr>
            </a:pPr>
            <a:r>
              <a:t>Neural Ecosystem R&amp;D Suite — Facial Emotion Recognition Pipeline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Reports: final_result.md  |  final_performance_report.md  |  xai_ablation_analysis.md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8 •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Appendix A: Complete 49-Metric Breakdown Table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Appendix table covering classification, statistical, and probabilistic metrics across all 4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22015"/>
                <a:gridCol w="1714500"/>
                <a:gridCol w="1714500"/>
                <a:gridCol w="1714500"/>
                <a:gridCol w="1714500"/>
              </a:tblGrid>
              <a:tr h="39069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YOLOv8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MobileNetV2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Accuracy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Precision (Macro)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Positive Predictive Value (PPV)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Recall (Macro)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93.52%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True Positive Rate (TPR)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Specificity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True Negative Rate (TNR)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99.76%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F1-Score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8 •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Appendix B: Complete 49-Metric Breakdown Table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Appendix table covering compute latency, memory footprint, parameters, and FLOP complexity.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22015"/>
                <a:gridCol w="1714500"/>
                <a:gridCol w="1714500"/>
                <a:gridCol w="1714500"/>
                <a:gridCol w="1714500"/>
              </a:tblGrid>
              <a:tr h="39069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YOLOv8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MobileNetV2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ROC-AUC (OVR)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0.9900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Logarithmic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Matthews Corr. (MCC)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0.9245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Cohen's Kappa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0.9244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Expected Calibration Error (ECE)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3.21%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4.12%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Inference Time (CPU Latency)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15.4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5.9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Throughput (FPS)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90.9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147.1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64.9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169.5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Model Size (H5 / TFLite)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20.3MB / 8.4MB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10.5MB / 5.6MB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97.8MB / 23.5MB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9.6MB / 3.4MB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Number of 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5.33 Million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2.72 Million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25.64 Million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2.26 Million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FLOP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~0.78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~4.30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~4.10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~0.30 GFLOPs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SECTION 8 •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Appendix C: Hardware Specs &amp; Hyperparameter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Neural Ecosystem: 4-Model Facial Emotion Recognition Suite | IEEE / Thesis Defense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79008"/>
            <a:ext cx="10728655" cy="54864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💡 EXECUTIVE INSIGHT:  Full reference specifications for Ryzen 7 CPU execution environment and Keras hyperparameter setups.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79008"/>
            <a:ext cx="1097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3295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Parameter / Hardware Setting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Champion EfficientNet-B0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YOLOv8 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ResNet50 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MobileNetV2 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Adam (lr=0.001)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AdamW (lr=0.0001)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Adam (lr=0.001)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Adam (lr=0.001)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Input Image Tensor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224 × 224 × 3 RGB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224 × 224 × 3 RGB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224 × 224 × 3 RGB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224 × 224 × 3 RGB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Pre-trained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ImageNet-B0 Weights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DarkNet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ImageNet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ImageNet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CPU Compute Hardware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AMD Ryzen 7 5800H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AMD Ryzen 7 5800H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AMD Ryzen 7 5800H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AMD Ryzen 7 5800H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Execution Threads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 Cores / 16 Threads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 Cores / 16 Threads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 Cores / 16 Threads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 Cores / 16 Threads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