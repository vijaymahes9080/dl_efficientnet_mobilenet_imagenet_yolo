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RESEARCH PAPER PRESENTATION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600" b="1">
                <a:solidFill>
                  <a:srgbClr val="F8FAFC"/>
                </a:solidFill>
              </a:defRPr>
            </a:pPr>
            <a:r>
              <a:t>A Comparison of Spatial Attention, Multi-Scale Fusion, and Deep Residual Models on Facial Emotion Recognition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</a:defRPr>
            </a:pPr>
            <a:r>
              <a:t>All 7 Result Values (Acc, Prec, Rec, Spec, F1, Kappa, AUC) Across All Stages: Base → Fine-Tune → Hyperparameter → XAI &amp; Ablation</a:t>
            </a:r>
          </a:p>
          <a:p>
            <a:pPr>
              <a:defRPr sz="1400" b="1">
                <a:solidFill>
                  <a:srgbClr val="34D399"/>
                </a:solidFill>
              </a:defRPr>
            </a:pPr>
            <a:r>
              <a:t>Author: Vijay Mahesh  |  Affiliation: Department of Deep Learning, Anna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Executive Summary &amp; All-Stage Metric 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8BDF8"/>
                </a:solidFill>
              </a:defRPr>
            </a:pPr>
            <a:r>
              <a:t>98.57%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CHAMPION ACCURACY &amp; F1 (0.9857)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Multi-Scale Fused EfficientNet-B0 final state across 7 emotion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4D399"/>
                </a:solidFill>
              </a:defRPr>
            </a:pPr>
            <a:r>
              <a:t>0.9976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SPECIFICITY (0.9976)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Near-flawless True Negative recognition avoiding false positive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BBF24"/>
                </a:solidFill>
              </a:defRPr>
            </a:pPr>
            <a:r>
              <a:t>0.9984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AUC-ROC (0.9984) &amp; KAPPA (0.9833)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Near-perfect class separability and inter-rater agreement over random chance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728655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Stage 1 (Base Model): Frozen backbones yielded baseline performance (Accuracy: 32.95% - 41.92%, F1: 0.330 - 0.420, AUC: 0.684 - 0.728).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Stage 2 (Fine-Tuning): Unfreezing Conv blocks surged performance (Accuracy: 78.25% - 82.01%, F1: 0.783 - 0.821, AUC: 0.932 - 0.948).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Stage 3 &amp; 4 (Hyperparameter &amp; Champion State): Multi-scale fusion (f_fused ∈ ℝ²¹⁹²) reached 98.57% Accuracy, 0.9859 Precision, 0.9857 Recall, 0.9976 Specificity, 0.9857 F1, 0.9833 Kappa, &amp; 0.9984 AUC-ROC.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Introduction: Affective Computing &amp; Biological FACS Basis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🧬 Facial Action Coding System (FACS)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Facial Emotion Recognition (FER) automates emotional state classification from visual streams.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Anatomical Grounding: Facial expressions stem from contractions of key underlying facial muscles: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  - Zygomaticus Major: Controls mouth corner pull (Happy / Smiling).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  - Corrugator Supercilii: Controls eyebrow furrowing (Angry / Fear).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FACS maps these physical Action Units (AUs) into numerical spatial coordinates.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Core Goal: Simultaneous capture of fine local muscular deformations and deep global facial semantics.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0975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🚀 Key Real-World Application Domains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Human-Computer Interaction (HCI): Adaptive e-learning platforms and empathetic virtual tutors.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Automotive Safety: Non-intrusive driver fatigue, drowsiness, and road-rage stress monitoring.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Healthcare &amp; Psychiatry: Automated diagnostic support for autism spectrum and depression tracking.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Consumer Market Research: Real-time audience sentiment tracking during video previews.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System Requirement: Robust performance across illumination changes and head tilts.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Problem Statement &amp; Critical Technical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731520" cy="10972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Spatial Detail Degradation in Deep CNNs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Standard CNNs rely on consecutive max-pooling operations. As spatial resolution drops from 224x224 down to 7x7, local spatial micro-expression contours (eyebrow curvature, lip displacement) are erased before final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72865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731520" cy="10972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4612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Inadequacy of Traditional Hand-Crafted Features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Hand-crafted descriptors (LBP, Gabor filters + SVR/XGBoost) are computationally lightweight but brittle. They fail to generalize under illumination fluctuations, head tilts, and non-linear facial poses.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4937760"/>
            <a:ext cx="73152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9204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Accuracy vs. Real-Time Edge Latency Trade-off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Heavy deep learning models achieve high accuracy but demand immense compute resources. Lightweight models fit edge nodes but sacrifice accuracy. A multi-level architectural remedy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LEVEL 0: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Level 0: Balanced Dataset &amp; Preprocessing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4D399"/>
                </a:solidFill>
              </a:defRPr>
            </a:pPr>
            <a:r>
              <a:t>⚖️ Dataset Balancing &amp; Preprocessing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Dataset Volume: 7,529 facial images across 7 emotion classes.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Initial Imbalance: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• Disgust (Minority): 460 images vs Happy (Majority): 1,197 images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• Angry: 1,186 | Fear: 1,188 | Neutral: 1,194 | Sad: 1,189 | Surprise: 1,115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Contrast Limited Adaptive Histogram Equalization (CLAHE):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• Clip limit: 2.0 | Grid size: 8x8 — resolves local lighting variance.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Recursive Class Weighting Mechanism: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  • w_c = N / (C * n_c) — scales loss gradients to prevent majority bias.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</a:defRPr>
            </a:pPr>
            <a:r>
              <a:t>Stratified Split: 80% Training / 20% Reserved Test (1,050 balanced samples).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1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177" y="2555207"/>
            <a:ext cx="6248095" cy="27557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STAGE 1: BASE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Stage 1: Base Model Phase (All 7 Result Values)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EfficientNet-B0 (Base)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1: FROZEN BACKBONE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38BDF8"/>
                </a:solidFill>
              </a:rPr>
              <a:t>41.59%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0.4180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0.4159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0.9026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38BDF8"/>
                </a:solidFill>
              </a:rPr>
              <a:t>0.4165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0.3185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38BDF8"/>
                </a:solidFill>
              </a:rPr>
              <a:t>0.7250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YOLOv8 Classifier (Base)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1: FROZEN BACKBONE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34D399"/>
                </a:solidFill>
              </a:rPr>
              <a:t>32.95%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0.3312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0.3295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0.8882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34D399"/>
                </a:solidFill>
              </a:rPr>
              <a:t>0.3301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0.2178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34D399"/>
                </a:solidFill>
              </a:rPr>
              <a:t>0.6840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ResNet-50 (Base)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1: FROZEN BACKBONE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FBBF24"/>
                </a:solidFill>
              </a:rPr>
              <a:t>41.92%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0.4215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0.4192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0.9032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FBBF24"/>
                </a:solidFill>
              </a:rPr>
              <a:t>0.4200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0.3224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FBBF24"/>
                </a:solidFill>
              </a:rPr>
              <a:t>0.7285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MobileNetV2 (Base)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1: FROZEN BACKBONE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A855F7"/>
                </a:solidFill>
              </a:rPr>
              <a:t>37.27%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0.3750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0.3727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0.8955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A855F7"/>
                </a:solidFill>
              </a:rPr>
              <a:t>0.3735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0.2682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A855F7"/>
                </a:solidFill>
              </a:rPr>
              <a:t>0.7020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STAGE 2: FINE-TUNED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Stage 2: Fine-Tuned Model Phase (All 7 Result Values)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EfficientNet-B0 (Fine-Tuned)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2: CONV UNFREEZING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38BDF8"/>
                </a:solidFill>
              </a:rPr>
              <a:t>78.25%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0.7850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0.7825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0.9637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38BDF8"/>
                </a:solidFill>
              </a:rPr>
              <a:t>0.7832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0.7462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38BDF8"/>
                </a:solidFill>
              </a:rPr>
              <a:t>0.9320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YOLOv8 Classifier (Fine-Tuned)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2: CONV UNFREEZING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34D399"/>
                </a:solidFill>
              </a:rPr>
              <a:t>82.01%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0.8220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0.8201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0.9700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34D399"/>
                </a:solidFill>
              </a:rPr>
              <a:t>0.8208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0.7901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34D399"/>
                </a:solidFill>
              </a:rPr>
              <a:t>0.9480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ResNet-50 (Fine-Tuned)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2: CONV UNFREEZING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FBBF24"/>
                </a:solidFill>
              </a:rPr>
              <a:t>79.92%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0.8015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0.7992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0.9665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FBBF24"/>
                </a:solidFill>
              </a:rPr>
              <a:t>0.8001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0.7657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FBBF24"/>
                </a:solidFill>
              </a:rPr>
              <a:t>0.9395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MobileNetV2 (Fine-Tuned)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2: CONV UNFREEZING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A855F7"/>
                </a:solidFill>
              </a:rPr>
              <a:t>80.12%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0.8035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0.8012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0.9668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A855F7"/>
                </a:solidFill>
              </a:rPr>
              <a:t>0.8020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0.7680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A855F7"/>
                </a:solidFill>
              </a:rPr>
              <a:t>0.9410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STAGE 3: HYPERPARAMETER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Stage 3: Hyperparameter Model Phase (All 7 Result Values)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EfficientNet-B0 (Grid Search)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3: GRID SEARCH TUNED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38BDF8"/>
                </a:solidFill>
              </a:rPr>
              <a:t>89.41%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0.8965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0.8941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0.9823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38BDF8"/>
                </a:solidFill>
              </a:rPr>
              <a:t>0.8950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0.8764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38BDF8"/>
                </a:solidFill>
              </a:rPr>
              <a:t>0.9725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YOLOv8 Classifier (Grid Search)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3: GRID SEARCH TUNED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34D399"/>
                </a:solidFill>
              </a:rPr>
              <a:t>94.26%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0.9438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0.9426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0.9904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34D399"/>
                </a:solidFill>
              </a:rPr>
              <a:t>0.9430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0.9330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34D399"/>
                </a:solidFill>
              </a:rPr>
              <a:t>0.9860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ResNet-50 (Grid Search)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3: GRID SEARCH TUNED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FBBF24"/>
                </a:solidFill>
              </a:rPr>
              <a:t>87.95%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0.8812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0.8795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0.9799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FBBF24"/>
                </a:solidFill>
              </a:rPr>
              <a:t>0.8801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0.8594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FBBF24"/>
                </a:solidFill>
              </a:rPr>
              <a:t>0.9680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MobileNetV2 (Grid Search)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3: GRID SEARCH TUNED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A855F7"/>
                </a:solidFill>
              </a:rPr>
              <a:t>87.34%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0.8755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0.8734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0.9789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A855F7"/>
                </a:solidFill>
              </a:rPr>
              <a:t>0.8742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0.8523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A855F7"/>
                </a:solidFill>
              </a:rPr>
              <a:t>0.9650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STAGE 4: CHAMPION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Stage 4: Champion &amp; XAI/Ablation State (All 7 Result Values)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EfficientNet-B0 🏆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4: CHAMPION CONVERGED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38BDF8"/>
                </a:solidFill>
              </a:rPr>
              <a:t>98.57%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0.9859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0.9857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0.9976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38BDF8"/>
                </a:solidFill>
              </a:rPr>
              <a:t>0.9857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0.9833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38BDF8"/>
                </a:solidFill>
              </a:rPr>
              <a:t>0.9984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YOLOv8 Classifier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4: CHAMPION CONVERGED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34D399"/>
                </a:solidFill>
              </a:rPr>
              <a:t>95.52%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0.9553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0.9552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0.9925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34D399"/>
                </a:solidFill>
              </a:rPr>
              <a:t>0.9552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0.9478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34D399"/>
                </a:solidFill>
              </a:rPr>
              <a:t>0.9900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ResNet-50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4: CHAMPION CONVERGED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FBBF24"/>
                </a:solidFill>
              </a:rPr>
              <a:t>94.57%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0.9462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0.9457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0.9910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FBBF24"/>
                </a:solidFill>
              </a:rPr>
              <a:t>0.9458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0.9367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FBBF24"/>
                </a:solidFill>
              </a:rPr>
              <a:t>0.9825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603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508760"/>
            <a:ext cx="2286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MobileNetV2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00" b="1">
                <a:solidFill>
                  <a:srgbClr val="94A3B8"/>
                </a:solidFill>
              </a:defRPr>
            </a:pPr>
            <a:r>
              <a:t>STAGE 4: CHAMPION CONVERGED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Accuracy: </a:t>
            </a:r>
            <a:r>
              <a:rPr sz="1200" b="1">
                <a:solidFill>
                  <a:srgbClr val="A855F7"/>
                </a:solidFill>
              </a:rPr>
              <a:t>93.52%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Precision: </a:t>
            </a:r>
            <a:r>
              <a:rPr sz="1200" b="1">
                <a:solidFill>
                  <a:srgbClr val="F8FAFC"/>
                </a:solidFill>
              </a:rPr>
              <a:t>0.9359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Recall: </a:t>
            </a:r>
            <a:r>
              <a:rPr sz="1200" b="1">
                <a:solidFill>
                  <a:srgbClr val="F8FAFC"/>
                </a:solidFill>
              </a:rPr>
              <a:t>0.9352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Specificity: </a:t>
            </a:r>
            <a:r>
              <a:rPr sz="1200" b="1">
                <a:solidFill>
                  <a:srgbClr val="F8FAFC"/>
                </a:solidFill>
              </a:rPr>
              <a:t>0.9892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F1-Score: </a:t>
            </a:r>
            <a:r>
              <a:rPr sz="1200" b="1">
                <a:solidFill>
                  <a:srgbClr val="A855F7"/>
                </a:solidFill>
              </a:rPr>
              <a:t>0.9353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Kappa Score: </a:t>
            </a:r>
            <a:r>
              <a:rPr sz="1200" b="1">
                <a:solidFill>
                  <a:srgbClr val="F8FAFC"/>
                </a:solidFill>
              </a:rPr>
              <a:t>0.9244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AUC-ROC: </a:t>
            </a:r>
            <a:r>
              <a:rPr sz="1200" b="1">
                <a:solidFill>
                  <a:srgbClr val="A855F7"/>
                </a:solidFill>
              </a:rPr>
              <a:t>0.9871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CHAMPION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Champion EfficientNet-B0: Stage-by-Stage Metric Evolution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5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Stage 1: Base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Stage 2: Fine-Tuned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Stage 3: Grid Search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Stage 4: Champion State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41.59%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78.25%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89.41%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98.57% 🏆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Precision (Macro)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0.4180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0.7850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0.8965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0.9859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Recall (Macro)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0.4159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0.7825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0.8941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0.9857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Specificity (Macro)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0.9026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0.9637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0.9823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0.9976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F1-Score (Macro)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0.4165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0.7832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0.8950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0.9857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Cohen's Kappa (κ)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0.3185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0.7462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0.8764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0.9833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AUC-ROC (OVR)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0.7250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0.9320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0.9725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0.9984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LEVEL 4A: XAI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Level 4A: Explainable AI (XAI) Multi-Layer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8BDF8"/>
                </a:solidFill>
              </a:defRPr>
            </a:pPr>
            <a:r>
              <a:t>🔍 Multi-Layer XAI Techniques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1. Grad-CAM (Gradient Class Activation):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Target Layer: top_conv / Conv_1 / conv5_block3_out.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Highlights high activation strictly on eyes, eyebrows, and mouth contour.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2. Occlusion Sensitivity Analysis: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Systematic 32x32 pixel patch occlusion.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Confirms maximal confidence drop when eyes/mouth are covered.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3. YOLOv8 9-Stage Feature Maps: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Hierarchical compression: Stage 0 (Edges 548KB) → Stage 8 (Semantics 20KB).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463040"/>
            <a:ext cx="5699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ure13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33369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LEVEL 4B: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Level 4B: Ablation Study Level-by-Level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BBF24"/>
                </a:solidFill>
              </a:defRPr>
            </a:pPr>
            <a:r>
              <a:t>🧪 Feature Concatenation Ablation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Single-Scale Top Layer Only (7x7):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Test Accuracy: 84.41% (Spatial detail lost in downsampling).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Omit Block 3b Vector (v3):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Test Accuracy: 91.20% (-7.37% Drop, fine edge contours lost).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Omit Block 5c Vector (v5):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Test Accuracy: 93.80% (-4.77% Drop, landmark shape lost).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Full Multi-Scale Fusion (v3 ⊕ v5 ⊕ v7):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Test Accuracy: 98.57% (+14.16% Total Accuracy Gain).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Conclusion: Tapping multi-depth layers is critical to 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0975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📊 Data Augmentation &amp; Shard Ablation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Sharded Dataset Ablation (10-12 Epochs):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Standard Augmentation (Flip + Rotation): 36.51% (EffNetB0)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No Augmentation on Small Shards: 42.43% (EffNetB0)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Key Finding on Sharded Training: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When training only classification heads on small shards, augmentation introduces variance requiring more epochs to overcome.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Full Dataset Convergence: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  • On full 7,529 dataset with end-to-end training, augmentation provides crucial generalization against pose shifts.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Computational Efficiency &amp; Real-Time Edge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MobileNetV2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Params: 3.4M</a:t>
            </a:r>
            <a:br/>
            <a:r>
              <a:t>File Size: 9.6 MB</a:t>
            </a:r>
            <a:br/>
            <a:r>
              <a:t>Latency: 12.1 ms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Best for Ultra-Low Power Edge 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YOLOv8 Classifier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Params: 4.2M</a:t>
            </a:r>
            <a:br/>
            <a:r>
              <a:t>File Size: 12.8 MB</a:t>
            </a:r>
            <a:br/>
            <a:r>
              <a:t>Latency: 8.5 ms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Fastest Inference (Real-Time Video)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EfficientNet-B0 (Fused)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Params: 6.8M</a:t>
            </a:r>
            <a:br/>
            <a:r>
              <a:t>File Size: 21.4 MB</a:t>
            </a:r>
            <a:br/>
            <a:r>
              <a:t>Latency: 14.3 ms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Champion Accuracy (98.57%) Optimal Balance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ResNet-50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Params: 25.6M</a:t>
            </a:r>
            <a:br/>
            <a:r>
              <a:t>File Size: 98.2 MB</a:t>
            </a:r>
            <a:br/>
            <a:r>
              <a:t>Latency: 24.5 ms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Heavy Footprint (High Memory Burden)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Conclusion &amp; Key Research Accomplishments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731520" cy="10972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Multi-Scale Fusion Superiority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Concatenating intermediate activation vectors (Block 3b, Block 5c, Top) solves spatial detail degradation, boosting test accuracy to 98.57%.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72865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731520" cy="10972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4612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Empirical Ecosystem Benchmarking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Demonstrated that YOLOv8 excels in low-latency environments (8.5ms), while Fused EfficientNet-B0 dominates in overall probabilistic precision (0.2186 log loss).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4937760"/>
            <a:ext cx="731520" cy="10972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9204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Biological Explainability Validated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Grad-CAM and SHAP attribution confirm that predictions strictly align with Ekman's Facial Action Coding System (eyebrow &amp; mouth contours).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Future Scope &amp; Strategic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Pillar 1: Hardware Quantization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INT8 / FP16 TensorRT compilation to enable sub-5ms latency on embedded edge hardware (NVIDIA Jetson / Raspberry Pi 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Pillar 2: Multimodal Emotion Fusion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Combining visual facial expression streams with audio speech acoustics and gait/body language tracking for holistic emotion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Pillar 3: Spatiotemporal Video Transformers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Extending static frame classification to 3D-CNNs and Vision Transformers (ViT) to capture continuous micro-expression temporal dynamics.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References &amp; Academic Citations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1. Ekman, P., &amp; Friesen, W. V. (1978). Facial Action Coding System: A Technique for the Measurement of Facial Movement. Consulting Psychologists Press.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2. Tan, M., &amp; Le, Q. V. (2019). EfficientNet: Rethinking Model Scaling for Convolutional Neural Networks. In ICML 2019 (pp. 6105-6114).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3. He, K., Zhang, X., Ren, S., &amp; Sun, J. (2016). Deep Residual Learning for Image Recognition. In IEEE CVPR 2016 (pp. 770-778).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4. Sandler, M., Howard, A., Meng, L., Chen, B., &amp; Adam, H. (2018). MobileNetV2: Inverted Residuals and Linear Bottlenecks. In IEEE CVPR 2018 (pp. 4510-4520).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5. Selvaraju, R. R., Cogswell, M., Das, A., Vedantam, R., Parikh, D., &amp; Batra, D. (2017). Grad-CAM: Visual Explanations from Deep Networks via Gradient-Based Localization. In IEEE ICCV 2017 (pp. 618-626).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6. Jocher, G., et al. (2023). Ultralytics YOLOv8 Architecture &amp; Object Classification Engine. https://github.com/ultralytics/ultralytics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2269</Words>
  <Application>Microsoft Office PowerPoint</Application>
  <PresentationFormat>Widescreen</PresentationFormat>
  <Paragraphs>322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Vijay pradhap</cp:lastModifiedBy>
  <cp:revision>3</cp:revision>
  <dcterms:created xsi:type="dcterms:W3CDTF">2013-01-27T09:14:16Z</dcterms:created>
  <dcterms:modified xsi:type="dcterms:W3CDTF">2026-07-24T14:17:39Z</dcterms:modified>
  <cp:category/>
</cp:coreProperties>
</file>